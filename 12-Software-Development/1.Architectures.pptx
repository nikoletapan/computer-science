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624" r:id="rId5"/>
    <p:sldId id="625" r:id="rId6"/>
    <p:sldId id="626" r:id="rId7"/>
    <p:sldId id="630" r:id="rId8"/>
    <p:sldId id="631" r:id="rId9"/>
    <p:sldId id="634" r:id="rId10"/>
    <p:sldId id="635" r:id="rId11"/>
    <p:sldId id="632" r:id="rId12"/>
    <p:sldId id="633" r:id="rId13"/>
    <p:sldId id="617" r:id="rId14"/>
    <p:sldId id="636" r:id="rId15"/>
    <p:sldId id="637" r:id="rId16"/>
    <p:sldId id="607" r:id="rId17"/>
    <p:sldId id="618" r:id="rId18"/>
    <p:sldId id="638" r:id="rId19"/>
    <p:sldId id="614" r:id="rId2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3C8A3E-A29B-4577-AF15-535B9C6E0EB8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A49AEFD-7642-45B6-A998-313BBA68E9D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ru-RU" dirty="0" err="1"/>
            <a:t>Базата</a:t>
          </a:r>
          <a:r>
            <a:rPr lang="ru-RU" dirty="0"/>
            <a:t> от </a:t>
          </a:r>
          <a:r>
            <a:rPr lang="ru-RU" dirty="0" err="1"/>
            <a:t>данни</a:t>
          </a:r>
          <a:r>
            <a:rPr lang="ru-RU" dirty="0"/>
            <a:t> е </a:t>
          </a:r>
          <a:r>
            <a:rPr lang="ru-RU" dirty="0" err="1"/>
            <a:t>колекция</a:t>
          </a:r>
          <a:r>
            <a:rPr lang="ru-RU" dirty="0"/>
            <a:t> от логически </a:t>
          </a:r>
          <a:r>
            <a:rPr lang="ru-RU" dirty="0" err="1"/>
            <a:t>свързани</a:t>
          </a:r>
          <a:r>
            <a:rPr lang="ru-RU" dirty="0"/>
            <a:t> </a:t>
          </a:r>
          <a:r>
            <a:rPr lang="ru-RU" dirty="0" err="1"/>
            <a:t>данни</a:t>
          </a:r>
          <a:r>
            <a:rPr lang="ru-RU" dirty="0"/>
            <a:t>, </a:t>
          </a:r>
          <a:r>
            <a:rPr lang="ru-RU" dirty="0" err="1"/>
            <a:t>структурирани</a:t>
          </a:r>
          <a:r>
            <a:rPr lang="ru-RU" dirty="0"/>
            <a:t> по определен начин </a:t>
          </a:r>
          <a:r>
            <a:rPr lang="ru-RU" dirty="0" err="1"/>
            <a:t>така</a:t>
          </a:r>
          <a:r>
            <a:rPr lang="ru-RU" dirty="0"/>
            <a:t>, че </a:t>
          </a:r>
          <a:r>
            <a:rPr lang="ru-RU" dirty="0" err="1"/>
            <a:t>лесно</a:t>
          </a:r>
          <a:r>
            <a:rPr lang="ru-RU" dirty="0"/>
            <a:t> да се </a:t>
          </a:r>
          <a:r>
            <a:rPr lang="ru-RU" dirty="0" err="1"/>
            <a:t>поддържат</a:t>
          </a:r>
          <a:r>
            <a:rPr lang="ru-RU" dirty="0"/>
            <a:t>, </a:t>
          </a:r>
          <a:r>
            <a:rPr lang="ru-RU" dirty="0" err="1"/>
            <a:t>обработват</a:t>
          </a:r>
          <a:r>
            <a:rPr lang="ru-RU" dirty="0"/>
            <a:t> и </a:t>
          </a:r>
          <a:r>
            <a:rPr lang="ru-RU" dirty="0" err="1"/>
            <a:t>бързо</a:t>
          </a:r>
          <a:r>
            <a:rPr lang="ru-RU" dirty="0"/>
            <a:t> да се </a:t>
          </a:r>
          <a:r>
            <a:rPr lang="ru-RU" dirty="0" err="1"/>
            <a:t>извлича</a:t>
          </a:r>
          <a:r>
            <a:rPr lang="ru-RU" dirty="0"/>
            <a:t> </a:t>
          </a:r>
          <a:r>
            <a:rPr lang="ru-RU" dirty="0" err="1"/>
            <a:t>нужната</a:t>
          </a:r>
          <a:r>
            <a:rPr lang="ru-RU" dirty="0"/>
            <a:t> информация</a:t>
          </a:r>
          <a:endParaRPr lang="en-US" dirty="0"/>
        </a:p>
      </dgm:t>
    </dgm:pt>
    <dgm:pt modelId="{A59276D9-4A65-482E-AE3F-9E33BE1965DF}" type="parTrans" cxnId="{EE5CCC03-EDD8-49CA-933E-50048C823656}">
      <dgm:prSet/>
      <dgm:spPr/>
      <dgm:t>
        <a:bodyPr/>
        <a:lstStyle/>
        <a:p>
          <a:endParaRPr lang="en-US"/>
        </a:p>
      </dgm:t>
    </dgm:pt>
    <dgm:pt modelId="{11D3642C-4CEF-4C48-94DC-EEBD0529EDF5}" type="sibTrans" cxnId="{EE5CCC03-EDD8-49CA-933E-50048C823656}">
      <dgm:prSet/>
      <dgm:spPr/>
      <dgm:t>
        <a:bodyPr/>
        <a:lstStyle/>
        <a:p>
          <a:endParaRPr lang="en-US"/>
        </a:p>
      </dgm:t>
    </dgm:pt>
    <dgm:pt modelId="{C250AFD4-44A9-47E6-A5F8-BEAF630290D5}">
      <dgm:prSet/>
      <dgm:spPr/>
      <dgm:t>
        <a:bodyPr/>
        <a:lstStyle/>
        <a:p>
          <a:r>
            <a:rPr lang="ru-RU" b="0" i="0"/>
            <a:t>БД /База данни/ - съвкупност от контекстно свързани данни, която съществува за сравнително дълъг период от време и е създадена за организиране на данните, така че да се използват по-пълноценно.</a:t>
          </a:r>
          <a:endParaRPr lang="en-US"/>
        </a:p>
      </dgm:t>
    </dgm:pt>
    <dgm:pt modelId="{94A50031-5EA6-4705-91F3-8429968E1C49}" type="parTrans" cxnId="{B07505B0-E92C-41DD-9FFB-4BD1997A8D46}">
      <dgm:prSet/>
      <dgm:spPr/>
      <dgm:t>
        <a:bodyPr/>
        <a:lstStyle/>
        <a:p>
          <a:endParaRPr lang="en-US"/>
        </a:p>
      </dgm:t>
    </dgm:pt>
    <dgm:pt modelId="{4AFFC668-D640-4D0B-AF39-19E1A2471590}" type="sibTrans" cxnId="{B07505B0-E92C-41DD-9FFB-4BD1997A8D46}">
      <dgm:prSet/>
      <dgm:spPr/>
      <dgm:t>
        <a:bodyPr/>
        <a:lstStyle/>
        <a:p>
          <a:endParaRPr lang="en-US"/>
        </a:p>
      </dgm:t>
    </dgm:pt>
    <dgm:pt modelId="{0C0FE5F0-2458-46C3-AF12-3760020A3F06}" type="pres">
      <dgm:prSet presAssocID="{973C8A3E-A29B-4577-AF15-535B9C6E0EB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F27596-C2A7-4BEA-80FA-428460712E2F}" type="pres">
      <dgm:prSet presAssocID="{1A49AEFD-7642-45B6-A998-313BBA68E9DC}" presName="root" presStyleCnt="0"/>
      <dgm:spPr/>
    </dgm:pt>
    <dgm:pt modelId="{40743D97-5436-4AC5-832F-D4DB585DE1D2}" type="pres">
      <dgm:prSet presAssocID="{1A49AEFD-7642-45B6-A998-313BBA68E9DC}" presName="rootComposite" presStyleCnt="0"/>
      <dgm:spPr/>
    </dgm:pt>
    <dgm:pt modelId="{A8B2E685-3120-4B7B-A6D8-E3F5C1D640B8}" type="pres">
      <dgm:prSet presAssocID="{1A49AEFD-7642-45B6-A998-313BBA68E9DC}" presName="rootText" presStyleLbl="node1" presStyleIdx="0" presStyleCnt="1" custScaleX="198690"/>
      <dgm:spPr/>
    </dgm:pt>
    <dgm:pt modelId="{1EE65C08-14E9-40C9-ABA9-09A52C7A5FB1}" type="pres">
      <dgm:prSet presAssocID="{1A49AEFD-7642-45B6-A998-313BBA68E9DC}" presName="rootConnector" presStyleLbl="node1" presStyleIdx="0" presStyleCnt="1"/>
      <dgm:spPr/>
    </dgm:pt>
    <dgm:pt modelId="{F29A3D37-8FDD-45CA-AFC6-3A1879FF9618}" type="pres">
      <dgm:prSet presAssocID="{1A49AEFD-7642-45B6-A998-313BBA68E9DC}" presName="childShape" presStyleCnt="0"/>
      <dgm:spPr/>
    </dgm:pt>
    <dgm:pt modelId="{8710F8A0-8299-492F-9BCF-E7DB54D2CF8F}" type="pres">
      <dgm:prSet presAssocID="{94A50031-5EA6-4705-91F3-8429968E1C49}" presName="Name13" presStyleLbl="parChTrans1D2" presStyleIdx="0" presStyleCnt="1"/>
      <dgm:spPr/>
    </dgm:pt>
    <dgm:pt modelId="{904E3660-D046-4E67-BAA8-566B6A61863F}" type="pres">
      <dgm:prSet presAssocID="{C250AFD4-44A9-47E6-A5F8-BEAF630290D5}" presName="childText" presStyleLbl="bgAcc1" presStyleIdx="0" presStyleCnt="1">
        <dgm:presLayoutVars>
          <dgm:bulletEnabled val="1"/>
        </dgm:presLayoutVars>
      </dgm:prSet>
      <dgm:spPr/>
    </dgm:pt>
  </dgm:ptLst>
  <dgm:cxnLst>
    <dgm:cxn modelId="{EE5CCC03-EDD8-49CA-933E-50048C823656}" srcId="{973C8A3E-A29B-4577-AF15-535B9C6E0EB8}" destId="{1A49AEFD-7642-45B6-A998-313BBA68E9DC}" srcOrd="0" destOrd="0" parTransId="{A59276D9-4A65-482E-AE3F-9E33BE1965DF}" sibTransId="{11D3642C-4CEF-4C48-94DC-EEBD0529EDF5}"/>
    <dgm:cxn modelId="{837AEF5A-7994-49D4-8807-62FF47CA22DA}" type="presOf" srcId="{1A49AEFD-7642-45B6-A998-313BBA68E9DC}" destId="{1EE65C08-14E9-40C9-ABA9-09A52C7A5FB1}" srcOrd="1" destOrd="0" presId="urn:microsoft.com/office/officeart/2005/8/layout/hierarchy3"/>
    <dgm:cxn modelId="{A4DB1392-02FE-4557-9B20-9296548A53C0}" type="presOf" srcId="{94A50031-5EA6-4705-91F3-8429968E1C49}" destId="{8710F8A0-8299-492F-9BCF-E7DB54D2CF8F}" srcOrd="0" destOrd="0" presId="urn:microsoft.com/office/officeart/2005/8/layout/hierarchy3"/>
    <dgm:cxn modelId="{F9D18F93-7BC4-4E03-B9A5-6CCBF9BCFDBB}" type="presOf" srcId="{973C8A3E-A29B-4577-AF15-535B9C6E0EB8}" destId="{0C0FE5F0-2458-46C3-AF12-3760020A3F06}" srcOrd="0" destOrd="0" presId="urn:microsoft.com/office/officeart/2005/8/layout/hierarchy3"/>
    <dgm:cxn modelId="{7F6F4297-6286-4A90-84C1-18C4926A6FC9}" type="presOf" srcId="{1A49AEFD-7642-45B6-A998-313BBA68E9DC}" destId="{A8B2E685-3120-4B7B-A6D8-E3F5C1D640B8}" srcOrd="0" destOrd="0" presId="urn:microsoft.com/office/officeart/2005/8/layout/hierarchy3"/>
    <dgm:cxn modelId="{2C9E7898-E0F4-489C-9C24-6DFF2E3A4554}" type="presOf" srcId="{C250AFD4-44A9-47E6-A5F8-BEAF630290D5}" destId="{904E3660-D046-4E67-BAA8-566B6A61863F}" srcOrd="0" destOrd="0" presId="urn:microsoft.com/office/officeart/2005/8/layout/hierarchy3"/>
    <dgm:cxn modelId="{B07505B0-E92C-41DD-9FFB-4BD1997A8D46}" srcId="{1A49AEFD-7642-45B6-A998-313BBA68E9DC}" destId="{C250AFD4-44A9-47E6-A5F8-BEAF630290D5}" srcOrd="0" destOrd="0" parTransId="{94A50031-5EA6-4705-91F3-8429968E1C49}" sibTransId="{4AFFC668-D640-4D0B-AF39-19E1A2471590}"/>
    <dgm:cxn modelId="{D780CBE6-0302-4414-A98A-9CBE8125D162}" type="presParOf" srcId="{0C0FE5F0-2458-46C3-AF12-3760020A3F06}" destId="{F0F27596-C2A7-4BEA-80FA-428460712E2F}" srcOrd="0" destOrd="0" presId="urn:microsoft.com/office/officeart/2005/8/layout/hierarchy3"/>
    <dgm:cxn modelId="{E8886A26-AA67-40FE-BE87-B8A407BD5825}" type="presParOf" srcId="{F0F27596-C2A7-4BEA-80FA-428460712E2F}" destId="{40743D97-5436-4AC5-832F-D4DB585DE1D2}" srcOrd="0" destOrd="0" presId="urn:microsoft.com/office/officeart/2005/8/layout/hierarchy3"/>
    <dgm:cxn modelId="{444585FF-6CD5-488C-8860-6B38B914FEB1}" type="presParOf" srcId="{40743D97-5436-4AC5-832F-D4DB585DE1D2}" destId="{A8B2E685-3120-4B7B-A6D8-E3F5C1D640B8}" srcOrd="0" destOrd="0" presId="urn:microsoft.com/office/officeart/2005/8/layout/hierarchy3"/>
    <dgm:cxn modelId="{41253B40-7FC2-4FAF-B7AD-A45D70B1C780}" type="presParOf" srcId="{40743D97-5436-4AC5-832F-D4DB585DE1D2}" destId="{1EE65C08-14E9-40C9-ABA9-09A52C7A5FB1}" srcOrd="1" destOrd="0" presId="urn:microsoft.com/office/officeart/2005/8/layout/hierarchy3"/>
    <dgm:cxn modelId="{6F5F3589-6561-4B5A-B26E-D80606128F13}" type="presParOf" srcId="{F0F27596-C2A7-4BEA-80FA-428460712E2F}" destId="{F29A3D37-8FDD-45CA-AFC6-3A1879FF9618}" srcOrd="1" destOrd="0" presId="urn:microsoft.com/office/officeart/2005/8/layout/hierarchy3"/>
    <dgm:cxn modelId="{721AADB2-4F47-479F-BDAF-C8B82F58D68A}" type="presParOf" srcId="{F29A3D37-8FDD-45CA-AFC6-3A1879FF9618}" destId="{8710F8A0-8299-492F-9BCF-E7DB54D2CF8F}" srcOrd="0" destOrd="0" presId="urn:microsoft.com/office/officeart/2005/8/layout/hierarchy3"/>
    <dgm:cxn modelId="{3AB56812-667C-4445-9DE8-2CF2B4A4CDA8}" type="presParOf" srcId="{F29A3D37-8FDD-45CA-AFC6-3A1879FF9618}" destId="{904E3660-D046-4E67-BAA8-566B6A61863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2E685-3120-4B7B-A6D8-E3F5C1D640B8}">
      <dsp:nvSpPr>
        <dsp:cNvPr id="0" name=""/>
        <dsp:cNvSpPr/>
      </dsp:nvSpPr>
      <dsp:spPr>
        <a:xfrm>
          <a:off x="1773858" y="1800"/>
          <a:ext cx="6967882" cy="1753455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 err="1"/>
            <a:t>Базата</a:t>
          </a:r>
          <a:r>
            <a:rPr lang="ru-RU" sz="2300" kern="1200" dirty="0"/>
            <a:t> от </a:t>
          </a:r>
          <a:r>
            <a:rPr lang="ru-RU" sz="2300" kern="1200" dirty="0" err="1"/>
            <a:t>данни</a:t>
          </a:r>
          <a:r>
            <a:rPr lang="ru-RU" sz="2300" kern="1200" dirty="0"/>
            <a:t> е </a:t>
          </a:r>
          <a:r>
            <a:rPr lang="ru-RU" sz="2300" kern="1200" dirty="0" err="1"/>
            <a:t>колекция</a:t>
          </a:r>
          <a:r>
            <a:rPr lang="ru-RU" sz="2300" kern="1200" dirty="0"/>
            <a:t> от логически </a:t>
          </a:r>
          <a:r>
            <a:rPr lang="ru-RU" sz="2300" kern="1200" dirty="0" err="1"/>
            <a:t>свързани</a:t>
          </a:r>
          <a:r>
            <a:rPr lang="ru-RU" sz="2300" kern="1200" dirty="0"/>
            <a:t> </a:t>
          </a:r>
          <a:r>
            <a:rPr lang="ru-RU" sz="2300" kern="1200" dirty="0" err="1"/>
            <a:t>данни</a:t>
          </a:r>
          <a:r>
            <a:rPr lang="ru-RU" sz="2300" kern="1200" dirty="0"/>
            <a:t>, </a:t>
          </a:r>
          <a:r>
            <a:rPr lang="ru-RU" sz="2300" kern="1200" dirty="0" err="1"/>
            <a:t>структурирани</a:t>
          </a:r>
          <a:r>
            <a:rPr lang="ru-RU" sz="2300" kern="1200" dirty="0"/>
            <a:t> по определен начин </a:t>
          </a:r>
          <a:r>
            <a:rPr lang="ru-RU" sz="2300" kern="1200" dirty="0" err="1"/>
            <a:t>така</a:t>
          </a:r>
          <a:r>
            <a:rPr lang="ru-RU" sz="2300" kern="1200" dirty="0"/>
            <a:t>, че </a:t>
          </a:r>
          <a:r>
            <a:rPr lang="ru-RU" sz="2300" kern="1200" dirty="0" err="1"/>
            <a:t>лесно</a:t>
          </a:r>
          <a:r>
            <a:rPr lang="ru-RU" sz="2300" kern="1200" dirty="0"/>
            <a:t> да се </a:t>
          </a:r>
          <a:r>
            <a:rPr lang="ru-RU" sz="2300" kern="1200" dirty="0" err="1"/>
            <a:t>поддържат</a:t>
          </a:r>
          <a:r>
            <a:rPr lang="ru-RU" sz="2300" kern="1200" dirty="0"/>
            <a:t>, </a:t>
          </a:r>
          <a:r>
            <a:rPr lang="ru-RU" sz="2300" kern="1200" dirty="0" err="1"/>
            <a:t>обработват</a:t>
          </a:r>
          <a:r>
            <a:rPr lang="ru-RU" sz="2300" kern="1200" dirty="0"/>
            <a:t> и </a:t>
          </a:r>
          <a:r>
            <a:rPr lang="ru-RU" sz="2300" kern="1200" dirty="0" err="1"/>
            <a:t>бързо</a:t>
          </a:r>
          <a:r>
            <a:rPr lang="ru-RU" sz="2300" kern="1200" dirty="0"/>
            <a:t> да се </a:t>
          </a:r>
          <a:r>
            <a:rPr lang="ru-RU" sz="2300" kern="1200" dirty="0" err="1"/>
            <a:t>извлича</a:t>
          </a:r>
          <a:r>
            <a:rPr lang="ru-RU" sz="2300" kern="1200" dirty="0"/>
            <a:t> </a:t>
          </a:r>
          <a:r>
            <a:rPr lang="ru-RU" sz="2300" kern="1200" dirty="0" err="1"/>
            <a:t>нужната</a:t>
          </a:r>
          <a:r>
            <a:rPr lang="ru-RU" sz="2300" kern="1200" dirty="0"/>
            <a:t> информация</a:t>
          </a:r>
          <a:endParaRPr lang="en-US" sz="2300" kern="1200" dirty="0"/>
        </a:p>
      </dsp:txBody>
      <dsp:txXfrm>
        <a:off x="1825215" y="53157"/>
        <a:ext cx="6865168" cy="1650741"/>
      </dsp:txXfrm>
    </dsp:sp>
    <dsp:sp modelId="{8710F8A0-8299-492F-9BCF-E7DB54D2CF8F}">
      <dsp:nvSpPr>
        <dsp:cNvPr id="0" name=""/>
        <dsp:cNvSpPr/>
      </dsp:nvSpPr>
      <dsp:spPr>
        <a:xfrm>
          <a:off x="2470646" y="1755256"/>
          <a:ext cx="696788" cy="1315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091"/>
              </a:lnTo>
              <a:lnTo>
                <a:pt x="696788" y="131509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E3660-D046-4E67-BAA8-566B6A61863F}">
      <dsp:nvSpPr>
        <dsp:cNvPr id="0" name=""/>
        <dsp:cNvSpPr/>
      </dsp:nvSpPr>
      <dsp:spPr>
        <a:xfrm>
          <a:off x="3167435" y="2193619"/>
          <a:ext cx="2805529" cy="1753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/>
            <a:t>БД /База данни/ - съвкупност от контекстно свързани данни, която съществува за сравнително дълъг период от време и е създадена за организиране на данните, така че да се използват по-пълноценно.</a:t>
          </a:r>
          <a:endParaRPr lang="en-US" sz="1400" kern="1200"/>
        </a:p>
      </dsp:txBody>
      <dsp:txXfrm>
        <a:off x="3218792" y="2244976"/>
        <a:ext cx="2702815" cy="1650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F07FF-3870-4CE1-822C-80E7CA972C07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FBE61-370A-4DBD-A0F2-21B9C295A6D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750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EA89D1D-BDA0-452F-9BF1-7DBF5B8AF3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57475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B285546-734C-467D-B116-5D0C16F850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1783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C4647A7-4AF9-4EE3-85ED-3DAD999B4F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86264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ОПД</a:t>
            </a:r>
            <a:r>
              <a:rPr lang="bg-BG" baseline="0" dirty="0"/>
              <a:t> – Обект за прехвърляне на данни</a:t>
            </a:r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826DDB9-2624-4CB5-878B-1BB468CA92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47050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="1" dirty="0"/>
              <a:t>Изглед</a:t>
            </a:r>
            <a:r>
              <a:rPr lang="bg-BG" baseline="0" dirty="0"/>
              <a:t>– Текстът, в диалоговия интерфейс, който пояснява въвеждането и извеждането на данните</a:t>
            </a:r>
          </a:p>
          <a:p>
            <a:r>
              <a:rPr lang="bg-BG" b="1" baseline="0" dirty="0"/>
              <a:t>Модел</a:t>
            </a:r>
            <a:r>
              <a:rPr lang="bg-BG" baseline="0" dirty="0"/>
              <a:t> – променливите, данните</a:t>
            </a:r>
          </a:p>
          <a:p>
            <a:r>
              <a:rPr lang="bg-BG" b="1" baseline="0" dirty="0"/>
              <a:t>Услуга</a:t>
            </a:r>
            <a:r>
              <a:rPr lang="bg-BG" baseline="0" dirty="0"/>
              <a:t> – изчисляването на обиколка и лице</a:t>
            </a:r>
          </a:p>
          <a:p>
            <a:r>
              <a:rPr lang="bg-BG" b="1" baseline="0" dirty="0"/>
              <a:t>Контролер</a:t>
            </a:r>
            <a:r>
              <a:rPr lang="bg-BG" baseline="0" dirty="0"/>
              <a:t> – командите за въвеждане, извеждане, за присвояване на стойност „=“.</a:t>
            </a:r>
          </a:p>
          <a:p>
            <a:endParaRPr lang="bg-BG" baseline="0" dirty="0"/>
          </a:p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47D5017-A634-4926-84DF-DA58DCEE38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89118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AEEF6D7-5EBF-4609-8B82-6F31635831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66178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29BD-4BE3-A6B0-B20F-2B290276E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0E4E6-32E4-21CA-8397-B30643D61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A043C-AC8F-D1CD-0BA9-3220BEE8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170C2-C4E6-34A0-F4AA-8DE6EC4F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D582-B9D6-0755-5AE4-BD397962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7967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8E35-A648-00DD-A2DD-70894C1C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5B4A-8F5D-9EB4-5746-54650FF3C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9A253-6D00-7063-58B1-AFAC9BDE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4FBB2-547D-F5DC-4F70-71E8227E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845CE-3FCF-920E-853F-3E3A1BEB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764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F9D6-C6E1-B833-923D-1A382511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41811-A413-F2EB-C892-32F240B89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1FF0E-6FBE-C074-D10D-34D4537C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CE2C4-77D5-7637-94A9-91EF3F7C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71016-E97D-E671-EED7-C90DE46B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4940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B010-6FE1-8A34-4306-B85FF634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A367-B743-C1A6-1DC4-8AD9C32D9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20147-9D4E-DF55-CF09-76C53FECF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8A25D-37DC-59A9-A1BC-888B0C74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A775C-6DE9-479D-0540-F9DB8D78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DD041-656E-5293-9CE1-7DBF937E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883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2553-9DA9-7289-EE56-EE35B892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6490E-47DE-6C62-7CF6-CCE692ACC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6B218-0497-4F4B-AB29-02CCA7AE3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35CD1-5127-4CC1-F512-F4E2AA154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9F67A-D619-B71E-E032-69D260632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D38A9-6E8E-BE41-C0F7-497A3633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12040-294E-0EF0-BE93-EA1A97CC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174BC-8446-FA28-983C-E97A57FE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6161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A457-87EB-C1B9-0A1C-577BDD44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7D9CF-8F8F-1C9A-A938-4F70C6DF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6B266-C182-BC42-EA7D-3BE73F26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EF6CE-A333-CC2A-00CC-1916CA8C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6264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460BF-4F22-D0F4-D71C-AA512E6A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6D78D-356B-277A-8DE4-254DEFDC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0918-9E60-2AE5-1A37-BAACCA50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56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BE27-8E65-5CBA-49F0-32120D55A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4D05-86F0-42B5-EFE8-233D84B4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80533-152B-AE65-3D2B-7AFD39111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06E12-6D7F-4CAB-8357-0001C8A2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960E5-20D9-F231-B3A8-D48D29C5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FCEE9-CACB-01E2-8299-FE66EED5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9878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DC61-56D1-3EBB-DD45-6E22F66A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9224D-D7A4-FA0B-0A52-99651AA80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26D0A-249E-555E-0684-F1E866C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44F9E-3BDE-754B-A659-D5BDB9B6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2FE1F-4047-4C27-154A-C6D0C043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85A2B-E893-4E8E-0FF8-1A844F1D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100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C6E3-6420-8399-C13B-744A5013B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5198E-B642-C00D-E61C-2D88C8B19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896C5-5648-BE65-7237-1ED29A54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B24CE-FD95-C31D-92EB-FDF653AA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471A1-F7FC-D4CF-C65B-50AE5D68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4317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DAF4B-7C61-4A54-B363-F8574F28F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4DCAA-8D87-98BE-90AF-76004005E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5A64-5429-5100-46B8-DBD0A27D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A3850-586A-5026-49C8-103888C6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98D90-4F3D-0B2E-C11A-76C88B2B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8885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35DF8-3F48-FFC3-A917-E9BDD5F5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4D0CD-FB7C-CB72-D182-C0B211756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45AF-08C6-1046-CD1B-256AD6ED1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11FE6-EC65-4553-A8F5-DD1A03D5C119}" type="datetimeFigureOut">
              <a:rPr lang="bg-BG" smtClean="0"/>
              <a:t>11.9.2024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48C96-2E87-267A-06DD-6CBC675DB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B1A43-FEAD-8C97-3355-964423BF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53241-9FC4-4D9F-AB41-0CEE025996B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2611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79C9A-EF1A-51B4-E9D5-39E50E894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 fontScale="90000"/>
          </a:bodyPr>
          <a:lstStyle/>
          <a:p>
            <a:r>
              <a:rPr lang="bg-BG" sz="7200" dirty="0"/>
              <a:t>Архитектури за реализиране на многопотребителски СУБД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F8E84-B972-3B88-E43B-2BDAC9DFA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bg-BG" dirty="0"/>
              <a:t>Модул 1 : Практикум по релационен модел на бази от данни 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16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3F072-72ED-8C51-9914-A3F9C683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5400"/>
              <a:t>База от данни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2E5DC6-339B-B7F8-3B4A-650AB45C42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16678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941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33550F-B46D-C058-DFBB-0D5F25E4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ru-RU" sz="36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Система за управление на БД</a:t>
            </a:r>
            <a:endParaRPr lang="bg-BG" sz="3600" dirty="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3593D-0801-3EB1-7177-1D1737F6B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pPr marL="0" marR="6350" indent="0">
              <a:spcAft>
                <a:spcPts val="0"/>
              </a:spcAft>
              <a:buNone/>
            </a:pPr>
            <a:r>
              <a:rPr lang="ru-RU" sz="1800" b="1" i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СУБД /Система за управление на БД/ </a:t>
            </a:r>
            <a:r>
              <a:rPr lang="ru-RU" sz="18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- съвкупност от програми, които позволяват на потребителя:</a:t>
            </a:r>
          </a:p>
          <a:p>
            <a:pPr marL="574675" lvl="1" indent="-342900">
              <a:spcBef>
                <a:spcPts val="25"/>
              </a:spcBef>
              <a:buFont typeface="Wingdings" panose="05000000000000000000" pitchFamily="2" charset="2"/>
              <a:buChar char="ü"/>
            </a:pPr>
            <a:r>
              <a:rPr lang="ru-RU" sz="18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 да създава БД и определя нейната структура;</a:t>
            </a:r>
          </a:p>
          <a:p>
            <a:pPr marL="574675" lvl="1" indent="-342900">
              <a:buFont typeface="Wingdings" panose="05000000000000000000" pitchFamily="2" charset="2"/>
              <a:buChar char="ü"/>
            </a:pPr>
            <a:r>
              <a:rPr lang="ru-RU" sz="18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 да отправя заявки към БД и да модифицира ефективно данните;</a:t>
            </a:r>
          </a:p>
          <a:p>
            <a:pPr marL="574675" lvl="1" indent="-342900">
              <a:buFont typeface="Wingdings" panose="05000000000000000000" pitchFamily="2" charset="2"/>
              <a:buChar char="ü"/>
            </a:pPr>
            <a:r>
              <a:rPr lang="ru-RU" sz="18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да подържа сигурността на данните при възникване на грешки и не</a:t>
            </a:r>
          </a:p>
          <a:p>
            <a:pPr marL="574675" lvl="1" indent="-342900">
              <a:buFont typeface="Wingdings" panose="05000000000000000000" pitchFamily="2" charset="2"/>
              <a:buChar char="ü"/>
            </a:pPr>
            <a:r>
              <a:rPr lang="ru-RU" sz="18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оторизирано използване;</a:t>
            </a:r>
          </a:p>
          <a:p>
            <a:pPr marL="574675" lvl="1" indent="-342900">
              <a:buFont typeface="Wingdings" panose="05000000000000000000" pitchFamily="2" charset="2"/>
              <a:buChar char="ü"/>
            </a:pPr>
            <a:r>
              <a:rPr lang="ru-RU" sz="1800" b="0" i="0">
                <a:solidFill>
                  <a:schemeClr val="tx2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управлява </a:t>
            </a:r>
            <a:r>
              <a:rPr lang="ru-RU" sz="1800">
                <a:solidFill>
                  <a:schemeClr val="tx2"/>
                </a:solidFill>
                <a:highlight>
                  <a:srgbClr val="FFFFFF"/>
                </a:highlight>
                <a:latin typeface="Verdana" panose="020B0604030504040204" pitchFamily="34" charset="0"/>
              </a:rPr>
              <a:t>достъпа до данните.</a:t>
            </a:r>
          </a:p>
          <a:p>
            <a:endParaRPr lang="bg-BG" sz="1800" dirty="0">
              <a:solidFill>
                <a:schemeClr val="tx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575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45321-2DC6-062F-66D9-521D9B91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/>
              <a:t>Основни понятия свързани със СУБД</a:t>
            </a:r>
            <a:endParaRPr lang="bg-B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A197-CF03-FBF1-3511-E3317B83B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Схема на </a:t>
            </a:r>
            <a:r>
              <a:rPr lang="ru-RU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базата</a:t>
            </a:r>
            <a:r>
              <a:rPr lang="ru-R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от </a:t>
            </a:r>
            <a:r>
              <a:rPr lang="ru-RU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данни</a:t>
            </a:r>
            <a:r>
              <a:rPr lang="ru-RU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/>
              <a:t>– описание на </a:t>
            </a:r>
            <a:r>
              <a:rPr lang="ru-RU" sz="2000" dirty="0" err="1"/>
              <a:t>структурата</a:t>
            </a:r>
            <a:r>
              <a:rPr lang="ru-RU" sz="2000" dirty="0"/>
              <a:t> на БД и </a:t>
            </a:r>
            <a:r>
              <a:rPr lang="ru-RU" sz="2000" dirty="0" err="1"/>
              <a:t>отношенията</a:t>
            </a:r>
            <a:r>
              <a:rPr lang="ru-RU" sz="2000" dirty="0"/>
              <a:t> между обектите в нея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Модел</a:t>
            </a:r>
            <a:r>
              <a:rPr lang="ru-R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на БД </a:t>
            </a:r>
            <a:r>
              <a:rPr lang="ru-RU" sz="2000" dirty="0"/>
              <a:t>– средство за </a:t>
            </a:r>
            <a:r>
              <a:rPr lang="ru-RU" sz="2000" dirty="0" err="1"/>
              <a:t>описване</a:t>
            </a:r>
            <a:r>
              <a:rPr lang="ru-RU" sz="2000" dirty="0"/>
              <a:t> на </a:t>
            </a:r>
            <a:r>
              <a:rPr lang="ru-RU" sz="2000" dirty="0" err="1"/>
              <a:t>организацията</a:t>
            </a:r>
            <a:r>
              <a:rPr lang="ru-RU" sz="2000" dirty="0"/>
              <a:t> на данните и </a:t>
            </a:r>
            <a:r>
              <a:rPr lang="ru-RU" sz="2000" dirty="0" err="1"/>
              <a:t>отношенията</a:t>
            </a:r>
            <a:r>
              <a:rPr lang="ru-RU" sz="2000" dirty="0"/>
              <a:t> между </a:t>
            </a:r>
            <a:r>
              <a:rPr lang="ru-RU" sz="2000" dirty="0" err="1"/>
              <a:t>тях</a:t>
            </a:r>
            <a:r>
              <a:rPr lang="ru-RU" sz="2000" dirty="0"/>
              <a:t>. </a:t>
            </a:r>
            <a:r>
              <a:rPr lang="ru-RU" sz="2000" dirty="0" err="1"/>
              <a:t>Съществуват</a:t>
            </a:r>
            <a:r>
              <a:rPr lang="ru-RU" sz="2000" dirty="0"/>
              <a:t> </a:t>
            </a:r>
            <a:r>
              <a:rPr lang="ru-RU" sz="2000" dirty="0" err="1"/>
              <a:t>няколко</a:t>
            </a:r>
            <a:r>
              <a:rPr lang="ru-RU" sz="2000" dirty="0"/>
              <a:t> </a:t>
            </a:r>
            <a:r>
              <a:rPr lang="ru-RU" sz="2000" dirty="0" err="1"/>
              <a:t>модела</a:t>
            </a:r>
            <a:r>
              <a:rPr lang="ru-RU" sz="2000" dirty="0"/>
              <a:t> на </a:t>
            </a:r>
            <a:r>
              <a:rPr lang="ru-RU" sz="2000" dirty="0" err="1"/>
              <a:t>бази</a:t>
            </a:r>
            <a:r>
              <a:rPr lang="ru-RU" sz="2000" dirty="0"/>
              <a:t> от </a:t>
            </a:r>
            <a:r>
              <a:rPr lang="ru-RU" sz="2000" dirty="0" err="1"/>
              <a:t>данни</a:t>
            </a:r>
            <a:r>
              <a:rPr lang="ru-RU" sz="2000" dirty="0"/>
              <a:t>: </a:t>
            </a:r>
            <a:r>
              <a:rPr lang="ru-RU" sz="2000" dirty="0" err="1"/>
              <a:t>йерархичен</a:t>
            </a:r>
            <a:r>
              <a:rPr lang="ru-RU" sz="2000" dirty="0"/>
              <a:t>, </a:t>
            </a:r>
            <a:r>
              <a:rPr lang="ru-RU" sz="2000" dirty="0" err="1"/>
              <a:t>мрежов</a:t>
            </a:r>
            <a:r>
              <a:rPr lang="ru-RU" sz="2000" dirty="0"/>
              <a:t>, </a:t>
            </a:r>
            <a:r>
              <a:rPr lang="ru-RU" sz="2000" dirty="0" err="1"/>
              <a:t>обектен</a:t>
            </a:r>
            <a:r>
              <a:rPr lang="ru-RU" sz="2000" dirty="0"/>
              <a:t>, </a:t>
            </a:r>
            <a:r>
              <a:rPr lang="ru-RU" sz="2000" dirty="0" err="1"/>
              <a:t>релационен</a:t>
            </a:r>
            <a:r>
              <a:rPr lang="ru-RU" sz="2000" dirty="0"/>
              <a:t>. Най-популярен е </a:t>
            </a:r>
            <a:r>
              <a:rPr lang="ru-RU" sz="2000" dirty="0" err="1"/>
              <a:t>релационния</a:t>
            </a:r>
            <a:r>
              <a:rPr lang="ru-RU" sz="2000" dirty="0"/>
              <a:t> </a:t>
            </a:r>
            <a:r>
              <a:rPr lang="ru-RU" sz="2000" dirty="0" err="1"/>
              <a:t>модел</a:t>
            </a:r>
            <a:r>
              <a:rPr lang="ru-RU" sz="2000" dirty="0"/>
              <a:t>, при който данните се </a:t>
            </a:r>
            <a:r>
              <a:rPr lang="ru-RU" sz="2000" dirty="0" err="1"/>
              <a:t>се</a:t>
            </a:r>
            <a:r>
              <a:rPr lang="ru-RU" sz="2000" dirty="0"/>
              <a:t> </a:t>
            </a:r>
            <a:r>
              <a:rPr lang="ru-RU" sz="2000" dirty="0" err="1"/>
              <a:t>организират</a:t>
            </a:r>
            <a:r>
              <a:rPr lang="ru-RU" sz="2000" dirty="0"/>
              <a:t> в </a:t>
            </a:r>
            <a:r>
              <a:rPr lang="ru-RU" sz="2000" dirty="0" err="1"/>
              <a:t>таблици</a:t>
            </a:r>
            <a:r>
              <a:rPr lang="ru-RU" sz="2000" dirty="0"/>
              <a:t>, </a:t>
            </a:r>
            <a:r>
              <a:rPr lang="ru-RU" sz="2000" dirty="0" err="1"/>
              <a:t>свързани</a:t>
            </a:r>
            <a:r>
              <a:rPr lang="ru-RU" sz="2000" dirty="0"/>
              <a:t> </a:t>
            </a:r>
            <a:r>
              <a:rPr lang="ru-RU" sz="2000" dirty="0" err="1"/>
              <a:t>помежду</a:t>
            </a:r>
            <a:r>
              <a:rPr lang="ru-RU" sz="2000" dirty="0"/>
              <a:t> си с </a:t>
            </a:r>
            <a:r>
              <a:rPr lang="ru-RU" sz="2000" dirty="0" err="1"/>
              <a:t>връзки</a:t>
            </a:r>
            <a:r>
              <a:rPr lang="ru-RU" sz="2000" dirty="0"/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Източник</a:t>
            </a:r>
            <a:r>
              <a:rPr lang="ru-R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на </a:t>
            </a:r>
            <a:r>
              <a:rPr lang="ru-RU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данни</a:t>
            </a:r>
            <a:r>
              <a:rPr lang="ru-RU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в СУБД </a:t>
            </a:r>
            <a:r>
              <a:rPr lang="ru-RU" sz="2000" dirty="0"/>
              <a:t>– локален или </a:t>
            </a:r>
            <a:r>
              <a:rPr lang="ru-RU" sz="2000" dirty="0" err="1"/>
              <a:t>отдалечен</a:t>
            </a:r>
            <a:r>
              <a:rPr lang="ru-RU" sz="2000" dirty="0"/>
              <a:t> </a:t>
            </a:r>
            <a:r>
              <a:rPr lang="ru-RU" sz="2000" dirty="0" err="1"/>
              <a:t>сървър</a:t>
            </a:r>
            <a:r>
              <a:rPr lang="ru-RU" sz="2000" dirty="0"/>
              <a:t>, уеб услуги, </a:t>
            </a:r>
            <a:r>
              <a:rPr lang="ru-RU" sz="2000" dirty="0" err="1"/>
              <a:t>различни</a:t>
            </a:r>
            <a:r>
              <a:rPr lang="ru-RU" sz="2000" dirty="0"/>
              <a:t> видове </a:t>
            </a:r>
            <a:r>
              <a:rPr lang="ru-RU" sz="2000" dirty="0" err="1"/>
              <a:t>файлове</a:t>
            </a:r>
            <a:r>
              <a:rPr lang="ru-RU" sz="2000" dirty="0"/>
              <a:t> (</a:t>
            </a:r>
            <a:r>
              <a:rPr lang="ru-RU" sz="2000" dirty="0" err="1"/>
              <a:t>текстови</a:t>
            </a:r>
            <a:r>
              <a:rPr lang="ru-RU" sz="2000" dirty="0"/>
              <a:t>, </a:t>
            </a:r>
            <a:r>
              <a:rPr lang="ru-RU" sz="2000" dirty="0" err="1"/>
              <a:t>таблични</a:t>
            </a:r>
            <a:r>
              <a:rPr lang="ru-RU" sz="2000" dirty="0"/>
              <a:t> и др.). </a:t>
            </a:r>
            <a:r>
              <a:rPr lang="ru-RU" sz="2000" dirty="0" err="1"/>
              <a:t>Доставчик</a:t>
            </a:r>
            <a:r>
              <a:rPr lang="ru-RU" sz="2000" dirty="0"/>
              <a:t> на </a:t>
            </a:r>
            <a:r>
              <a:rPr lang="ru-RU" sz="2000" dirty="0" err="1"/>
              <a:t>данни</a:t>
            </a:r>
            <a:r>
              <a:rPr lang="ru-RU" sz="2000" dirty="0"/>
              <a:t> – компонент или услуга в СУБД, който </a:t>
            </a:r>
            <a:r>
              <a:rPr lang="ru-RU" sz="2000" dirty="0" err="1"/>
              <a:t>осигурява</a:t>
            </a:r>
            <a:r>
              <a:rPr lang="ru-RU" sz="2000" dirty="0"/>
              <a:t> </a:t>
            </a:r>
            <a:r>
              <a:rPr lang="ru-RU" sz="2000" dirty="0" err="1"/>
              <a:t>достъп</a:t>
            </a:r>
            <a:r>
              <a:rPr lang="ru-RU" sz="2000" dirty="0"/>
              <a:t> до данните, </a:t>
            </a:r>
            <a:r>
              <a:rPr lang="ru-RU" sz="2000" dirty="0" err="1"/>
              <a:t>както</a:t>
            </a:r>
            <a:r>
              <a:rPr lang="ru-RU" sz="2000" dirty="0"/>
              <a:t> и </a:t>
            </a:r>
            <a:r>
              <a:rPr lang="ru-RU" sz="2000" dirty="0" err="1"/>
              <a:t>връзка</a:t>
            </a:r>
            <a:r>
              <a:rPr lang="ru-RU" sz="2000" dirty="0"/>
              <a:t> между БД и </a:t>
            </a:r>
            <a:r>
              <a:rPr lang="ru-RU" sz="2000" dirty="0" err="1"/>
              <a:t>клиентското</a:t>
            </a:r>
            <a:r>
              <a:rPr lang="ru-RU" sz="2000" dirty="0"/>
              <a:t> приложение. </a:t>
            </a:r>
            <a:endParaRPr lang="bg-BG" sz="2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11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35EE-CF18-87F4-D9AE-AEBBAA15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функции на СУБД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4D12E-1AFE-9FA1-0119-A894961EA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 err="1"/>
              <a:t>Моделиране</a:t>
            </a:r>
            <a:r>
              <a:rPr lang="ru-RU" dirty="0"/>
              <a:t> на БД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 Работа с данните (</a:t>
            </a:r>
            <a:r>
              <a:rPr lang="ru-RU" dirty="0" err="1"/>
              <a:t>добавяне</a:t>
            </a:r>
            <a:r>
              <a:rPr lang="ru-RU" dirty="0"/>
              <a:t>, </a:t>
            </a:r>
            <a:r>
              <a:rPr lang="ru-RU" dirty="0" err="1"/>
              <a:t>промяна</a:t>
            </a:r>
            <a:r>
              <a:rPr lang="ru-RU" dirty="0"/>
              <a:t>, </a:t>
            </a:r>
            <a:r>
              <a:rPr lang="ru-RU" dirty="0" err="1"/>
              <a:t>изтриване</a:t>
            </a:r>
            <a:r>
              <a:rPr lang="ru-RU" dirty="0"/>
              <a:t>, </a:t>
            </a:r>
            <a:r>
              <a:rPr lang="ru-RU" dirty="0" err="1"/>
              <a:t>извличане</a:t>
            </a:r>
            <a:r>
              <a:rPr lang="ru-RU" dirty="0"/>
              <a:t>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/>
              <a:t>Администриране</a:t>
            </a:r>
            <a:r>
              <a:rPr lang="ru-RU" dirty="0"/>
              <a:t> на БД и </a:t>
            </a:r>
            <a:r>
              <a:rPr lang="ru-RU" dirty="0" err="1"/>
              <a:t>правата</a:t>
            </a:r>
            <a:r>
              <a:rPr lang="ru-RU" dirty="0"/>
              <a:t> за </a:t>
            </a:r>
            <a:r>
              <a:rPr lang="ru-RU" dirty="0" err="1"/>
              <a:t>достъп</a:t>
            </a:r>
            <a:r>
              <a:rPr lang="ru-RU" dirty="0"/>
              <a:t> на </a:t>
            </a:r>
            <a:r>
              <a:rPr lang="ru-RU" dirty="0" err="1"/>
              <a:t>потребителите</a:t>
            </a:r>
            <a:r>
              <a:rPr lang="ru-RU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/>
              <a:t>Запазване</a:t>
            </a:r>
            <a:r>
              <a:rPr lang="ru-RU" dirty="0"/>
              <a:t> на </a:t>
            </a:r>
            <a:r>
              <a:rPr lang="ru-RU" dirty="0" err="1"/>
              <a:t>сигурността</a:t>
            </a:r>
            <a:r>
              <a:rPr lang="ru-RU" dirty="0"/>
              <a:t> и </a:t>
            </a:r>
            <a:r>
              <a:rPr lang="ru-RU" dirty="0" err="1"/>
              <a:t>целостта</a:t>
            </a:r>
            <a:r>
              <a:rPr lang="ru-RU" dirty="0"/>
              <a:t> на данните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 </a:t>
            </a:r>
            <a:r>
              <a:rPr lang="ru-RU" dirty="0" err="1"/>
              <a:t>Възстановяване</a:t>
            </a:r>
            <a:r>
              <a:rPr lang="ru-RU" dirty="0"/>
              <a:t> на данните и др. </a:t>
            </a:r>
          </a:p>
          <a:p>
            <a:pPr marL="0" indent="0">
              <a:buNone/>
            </a:pPr>
            <a:r>
              <a:rPr lang="ru-RU" dirty="0"/>
              <a:t>СУБД </a:t>
            </a:r>
            <a:r>
              <a:rPr lang="ru-RU" dirty="0" err="1"/>
              <a:t>могат</a:t>
            </a:r>
            <a:r>
              <a:rPr lang="ru-RU" dirty="0"/>
              <a:t> да се разделят на </a:t>
            </a:r>
            <a:r>
              <a:rPr lang="ru-RU" dirty="0" err="1"/>
              <a:t>еднопотребителски</a:t>
            </a:r>
            <a:r>
              <a:rPr lang="ru-RU" dirty="0"/>
              <a:t> (данните са на един </a:t>
            </a:r>
            <a:r>
              <a:rPr lang="ru-RU" dirty="0" err="1"/>
              <a:t>компютър</a:t>
            </a:r>
            <a:r>
              <a:rPr lang="ru-RU" dirty="0"/>
              <a:t> и се </a:t>
            </a:r>
            <a:r>
              <a:rPr lang="ru-RU" dirty="0" err="1"/>
              <a:t>управляват</a:t>
            </a:r>
            <a:r>
              <a:rPr lang="ru-RU" dirty="0"/>
              <a:t> от един </a:t>
            </a:r>
            <a:r>
              <a:rPr lang="ru-RU" dirty="0" err="1"/>
              <a:t>потребител</a:t>
            </a:r>
            <a:r>
              <a:rPr lang="ru-RU" dirty="0"/>
              <a:t>) и </a:t>
            </a:r>
            <a:r>
              <a:rPr lang="ru-RU" dirty="0" err="1"/>
              <a:t>многопотребителски</a:t>
            </a:r>
            <a:r>
              <a:rPr lang="ru-RU" dirty="0"/>
              <a:t>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222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87E48-1217-6455-8757-00D94C9C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bg-BG" sz="4800"/>
              <a:t>Компоненти на СУБД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217D531-F834-E36C-5BAD-4025E036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sz="2000"/>
              <a:t>Хардуер – компютър, сървър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/>
              <a:t> Софтуер – ОС, мрежов софтуер, софтуера от който е изградена СУБД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/>
              <a:t>Данни – съдържанието на базата от данни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/>
              <a:t> Процедури – инструкции или насоки за използване на СУБД. Включват инструкции как да се инсталира, настрои и управлява БД.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/>
              <a:t>Език за достъп до данните (Database Access Language) – език, чрез който потербителите задават команди за работа с данните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/>
              <a:t>Потребители – хората, които контролират и управляват БД </a:t>
            </a:r>
            <a:endParaRPr lang="bg-BG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8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6C703-BDCD-8078-9638-1E7DA095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/>
              <a:t>Архитектура за реализиране на СУБД</a:t>
            </a:r>
            <a:endParaRPr lang="bg-B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92B4-3CCE-7B3D-45D0-60028FA82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704014"/>
            <a:ext cx="9941319" cy="343816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sz="2400" dirty="0" err="1"/>
              <a:t>Централизирана</a:t>
            </a:r>
            <a:r>
              <a:rPr lang="ru-RU" sz="2400" dirty="0"/>
              <a:t> архитектура – всички </a:t>
            </a:r>
            <a:r>
              <a:rPr lang="ru-RU" sz="2400" dirty="0" err="1"/>
              <a:t>данни</a:t>
            </a:r>
            <a:r>
              <a:rPr lang="ru-RU" sz="2400" dirty="0"/>
              <a:t> се </a:t>
            </a:r>
            <a:r>
              <a:rPr lang="ru-RU" sz="2400" dirty="0" err="1"/>
              <a:t>съхраняват</a:t>
            </a:r>
            <a:r>
              <a:rPr lang="ru-RU" sz="2400" dirty="0"/>
              <a:t> на един </a:t>
            </a:r>
            <a:r>
              <a:rPr lang="ru-RU" sz="2400" dirty="0" err="1"/>
              <a:t>сървър</a:t>
            </a:r>
            <a:r>
              <a:rPr lang="ru-RU" sz="2400" dirty="0"/>
              <a:t> и всички </a:t>
            </a:r>
            <a:r>
              <a:rPr lang="ru-RU" sz="2400" dirty="0" err="1"/>
              <a:t>клиенти</a:t>
            </a:r>
            <a:r>
              <a:rPr lang="ru-RU" sz="2400" dirty="0"/>
              <a:t> се </a:t>
            </a:r>
            <a:r>
              <a:rPr lang="ru-RU" sz="2400" dirty="0" err="1"/>
              <a:t>свързват</a:t>
            </a:r>
            <a:r>
              <a:rPr lang="ru-RU" sz="2400" dirty="0"/>
              <a:t> към </a:t>
            </a:r>
            <a:r>
              <a:rPr lang="ru-RU" sz="2400" dirty="0" err="1"/>
              <a:t>този</a:t>
            </a:r>
            <a:r>
              <a:rPr lang="ru-RU" sz="2400" dirty="0"/>
              <a:t> </a:t>
            </a:r>
            <a:r>
              <a:rPr lang="ru-RU" sz="2400" dirty="0" err="1"/>
              <a:t>сървър</a:t>
            </a:r>
            <a:r>
              <a:rPr lang="ru-RU" sz="2400" dirty="0"/>
              <a:t>. </a:t>
            </a:r>
            <a:r>
              <a:rPr lang="ru-RU" sz="2400" dirty="0" err="1"/>
              <a:t>Основно</a:t>
            </a:r>
            <a:r>
              <a:rPr lang="ru-RU" sz="2400" dirty="0"/>
              <a:t> </a:t>
            </a:r>
            <a:r>
              <a:rPr lang="ru-RU" sz="2400" dirty="0" err="1"/>
              <a:t>предимство</a:t>
            </a:r>
            <a:r>
              <a:rPr lang="ru-RU" sz="2400" dirty="0"/>
              <a:t> е </a:t>
            </a:r>
            <a:r>
              <a:rPr lang="ru-RU" sz="2400" dirty="0" err="1"/>
              <a:t>нейната</a:t>
            </a:r>
            <a:r>
              <a:rPr lang="ru-RU" sz="2400" dirty="0"/>
              <a:t> простота.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dirty="0"/>
              <a:t>Клиент-</a:t>
            </a:r>
            <a:r>
              <a:rPr lang="ru-RU" sz="2400" dirty="0" err="1"/>
              <a:t>сървър</a:t>
            </a:r>
            <a:r>
              <a:rPr lang="ru-RU" sz="2400" dirty="0"/>
              <a:t> архитектура – подобна на </a:t>
            </a:r>
            <a:r>
              <a:rPr lang="ru-RU" sz="2400" dirty="0" err="1"/>
              <a:t>централизираната</a:t>
            </a:r>
            <a:r>
              <a:rPr lang="ru-RU" sz="2400" dirty="0"/>
              <a:t>, но </a:t>
            </a:r>
            <a:r>
              <a:rPr lang="ru-RU" sz="2400" dirty="0" err="1"/>
              <a:t>позволява</a:t>
            </a:r>
            <a:r>
              <a:rPr lang="ru-RU" sz="2400" dirty="0"/>
              <a:t> </a:t>
            </a:r>
            <a:r>
              <a:rPr lang="ru-RU" sz="2400" dirty="0" err="1"/>
              <a:t>надстройване</a:t>
            </a:r>
            <a:r>
              <a:rPr lang="ru-RU" sz="2400" dirty="0"/>
              <a:t> на </a:t>
            </a:r>
            <a:r>
              <a:rPr lang="ru-RU" sz="2400" dirty="0" err="1"/>
              <a:t>сървъра</a:t>
            </a:r>
            <a:r>
              <a:rPr lang="ru-RU" sz="2400" dirty="0"/>
              <a:t> или </a:t>
            </a:r>
            <a:r>
              <a:rPr lang="ru-RU" sz="2400" dirty="0" err="1"/>
              <a:t>добавяне</a:t>
            </a:r>
            <a:r>
              <a:rPr lang="ru-RU" sz="2400" dirty="0"/>
              <a:t> на </a:t>
            </a:r>
            <a:r>
              <a:rPr lang="ru-RU" sz="2400" dirty="0" err="1"/>
              <a:t>допълнителни</a:t>
            </a:r>
            <a:r>
              <a:rPr lang="ru-RU" sz="2400" dirty="0"/>
              <a:t> </a:t>
            </a:r>
            <a:r>
              <a:rPr lang="ru-RU" sz="2400" dirty="0" err="1"/>
              <a:t>сървъри</a:t>
            </a:r>
            <a:r>
              <a:rPr lang="ru-RU" sz="2400" dirty="0"/>
              <a:t> (например при </a:t>
            </a:r>
            <a:r>
              <a:rPr lang="ru-RU" sz="2400" dirty="0" err="1"/>
              <a:t>повишено</a:t>
            </a:r>
            <a:r>
              <a:rPr lang="ru-RU" sz="2400" dirty="0"/>
              <a:t> </a:t>
            </a:r>
            <a:r>
              <a:rPr lang="ru-RU" sz="2400" dirty="0" err="1"/>
              <a:t>натоварване</a:t>
            </a:r>
            <a:r>
              <a:rPr lang="ru-RU" sz="2400" dirty="0"/>
              <a:t> или при </a:t>
            </a:r>
            <a:r>
              <a:rPr lang="ru-RU" sz="2400" dirty="0" err="1"/>
              <a:t>отпадане</a:t>
            </a:r>
            <a:r>
              <a:rPr lang="ru-RU" sz="2400" dirty="0"/>
              <a:t> на един </a:t>
            </a:r>
            <a:r>
              <a:rPr lang="ru-RU" sz="2400" dirty="0" err="1"/>
              <a:t>сървър</a:t>
            </a:r>
            <a:r>
              <a:rPr lang="ru-RU" sz="2400" dirty="0"/>
              <a:t> по </a:t>
            </a:r>
            <a:r>
              <a:rPr lang="ru-RU" sz="2400" dirty="0" err="1"/>
              <a:t>някакви</a:t>
            </a:r>
            <a:r>
              <a:rPr lang="ru-RU" sz="2400" dirty="0"/>
              <a:t> причини)</a:t>
            </a:r>
            <a:endParaRPr lang="bg-B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676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CBC07-6548-7338-8476-10F4FD7C3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59" y="2339163"/>
            <a:ext cx="10252121" cy="36958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200"/>
              <a:t>Върху клиент-сървър архитектурата са разработени двуслойна и трислойна архитектура на СУБД.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/>
              <a:t> Двуслойна архитектура – приложенията от страна на клиента работят директно с БД на сървъра като използват потребителски интерфейси (API – Application Programming Interface). Клиентът изпраща заявка и получава отговор от сървъра.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/>
              <a:t>Трислойна архитектура – разширение на двуслойната като се добавя още един слой между клиентското приложение и сървъра (приложен слой – application layer). Клиентът няма директен достъп до сървъра, а използва приложния слой, който комуникира със сървъра. </a:t>
            </a:r>
            <a:endParaRPr lang="bg-BG" sz="2200"/>
          </a:p>
        </p:txBody>
      </p:sp>
    </p:spTree>
    <p:extLst>
      <p:ext uri="{BB962C8B-B14F-4D97-AF65-F5344CB8AC3E}">
        <p14:creationId xmlns:p14="http://schemas.microsoft.com/office/powerpoint/2010/main" val="215315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026" y="1837524"/>
            <a:ext cx="9960142" cy="3613484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Разпределя приложението на слоеве</a:t>
            </a:r>
          </a:p>
          <a:p>
            <a:r>
              <a:rPr lang="bg-BG" sz="3200" dirty="0">
                <a:latin typeface="Comfortaa" pitchFamily="2" charset="0"/>
              </a:rPr>
              <a:t>Всеки слой има строго определена задача</a:t>
            </a:r>
          </a:p>
          <a:p>
            <a:r>
              <a:rPr lang="bg-BG" sz="3200" dirty="0">
                <a:latin typeface="Comfortaa" pitchFamily="2" charset="0"/>
              </a:rPr>
              <a:t>Във </a:t>
            </a:r>
            <a:r>
              <a:rPr lang="en-US" sz="3200" dirty="0">
                <a:latin typeface="Comfortaa" pitchFamily="2" charset="0"/>
              </a:rPr>
              <a:t>Visual Studio </a:t>
            </a:r>
            <a:r>
              <a:rPr lang="bg-BG" sz="3200" dirty="0">
                <a:latin typeface="Comfortaa" pitchFamily="2" charset="0"/>
              </a:rPr>
              <a:t>можем да създадем такова приложение създавайки различни проекти в рамките на </a:t>
            </a:r>
            <a:r>
              <a:rPr lang="en-US" sz="3200" dirty="0">
                <a:latin typeface="Comfortaa" pitchFamily="2" charset="0"/>
              </a:rPr>
              <a:t>Solution-a </a:t>
            </a:r>
            <a:r>
              <a:rPr lang="bg-BG" sz="3200" dirty="0">
                <a:latin typeface="Comfortaa" pitchFamily="2" charset="0"/>
              </a:rPr>
              <a:t>ни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dirty="0">
                <a:latin typeface="Comfortaa" pitchFamily="2" charset="0"/>
              </a:rPr>
              <a:t>Какво е трислоен модел?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79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0279" y="365125"/>
            <a:ext cx="11034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Архитектура на трислойният модел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279" y="1710453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ПРЕЗЕНТАЦИОНЕН</a:t>
            </a:r>
            <a:b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</a:b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7262" y="1879600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Вход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96200" y="189215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Изход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3400" y="3380998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 ЗА УСЛУГИ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31074" y="356444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696200" y="3564441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Обработка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3400" y="4953000"/>
            <a:ext cx="11034600" cy="1247398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СЛОЙ ЗА ДАННИ</a:t>
            </a:r>
            <a:endParaRPr lang="en-US" sz="20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282631" y="5136443"/>
            <a:ext cx="3536138" cy="88051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БД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2209800" y="2804100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7" name="Down Arrow 56"/>
          <p:cNvSpPr/>
          <p:nvPr/>
        </p:nvSpPr>
        <p:spPr>
          <a:xfrm rot="-2700000">
            <a:off x="3311557" y="4473351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8" name="Down Arrow 57"/>
          <p:cNvSpPr/>
          <p:nvPr/>
        </p:nvSpPr>
        <p:spPr>
          <a:xfrm rot="13319652">
            <a:off x="8108496" y="4525666"/>
            <a:ext cx="609600" cy="1100042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  <p:sp>
        <p:nvSpPr>
          <p:cNvPr id="59" name="Down Arrow 58"/>
          <p:cNvSpPr/>
          <p:nvPr/>
        </p:nvSpPr>
        <p:spPr>
          <a:xfrm rot="-10800000">
            <a:off x="9220200" y="2795632"/>
            <a:ext cx="609600" cy="7011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6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641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600" noProof="1">
                <a:latin typeface="Comfortaa" pitchFamily="2" charset="0"/>
              </a:rPr>
              <a:t>Отговаря за: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Въвеждане на данни от потребителите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Визуализиране на данни към потребителите</a:t>
            </a:r>
            <a:endParaRPr lang="bg-BG" sz="36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noProof="1">
                <a:latin typeface="Comfortaa" pitchFamily="2" charset="0"/>
              </a:rPr>
              <a:t>Може да бъде: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Графичен потребителски интерфейс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Уеб приложение, мобилно приложение и др.</a:t>
            </a:r>
          </a:p>
          <a:p>
            <a:pPr marL="377887" lvl="1" indent="0">
              <a:lnSpc>
                <a:spcPct val="100000"/>
              </a:lnSpc>
              <a:buNone/>
            </a:pPr>
            <a:endParaRPr lang="bg-BG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5914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Презентационен слой-</a:t>
            </a:r>
            <a:r>
              <a:rPr lang="en-US" dirty="0">
                <a:latin typeface="Comfortaa" pitchFamily="2" charset="0"/>
              </a:rPr>
              <a:t>Presentation Layer</a:t>
            </a:r>
            <a:br>
              <a:rPr lang="bg-BG" dirty="0">
                <a:latin typeface="Comfortaa" pitchFamily="2" charset="0"/>
              </a:rPr>
            </a:b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526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Наричан още: бизнес слой, логически слой /</a:t>
            </a:r>
            <a:r>
              <a:rPr lang="en-US" sz="2400" noProof="1">
                <a:latin typeface="Comfortaa" pitchFamily="2" charset="0"/>
              </a:rPr>
              <a:t>business logic layer, service layer, middle layer, logic layer/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Отговаря за: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Обработка на данните приети от презентационния слой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Заявяване на данни от слоя за данни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Обработка на получените данни от слоя за данни</a:t>
            </a: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Подготовка на данните за презентационния слой</a:t>
            </a:r>
            <a:endParaRPr lang="en-US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Слой за услуги-</a:t>
            </a:r>
            <a:r>
              <a:rPr lang="en-US" dirty="0">
                <a:latin typeface="Comfortaa" pitchFamily="2" charset="0"/>
              </a:rPr>
              <a:t>Service Layer</a:t>
            </a:r>
            <a:br>
              <a:rPr lang="bg-BG" dirty="0">
                <a:latin typeface="Comfortaa" pitchFamily="2" charset="0"/>
              </a:rPr>
            </a:b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86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Отговаря за връзка с БД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Съхранява данните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Изпълнява заявки и команди върху БД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Не позволява данните да бъдат достъпвани и манипулирани директно от клиента в презентационния слой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Предоставя възможност за управление на информацията без значение от съхраняващия механизъм</a:t>
            </a:r>
          </a:p>
          <a:p>
            <a:pPr>
              <a:lnSpc>
                <a:spcPct val="100000"/>
              </a:lnSpc>
            </a:pPr>
            <a:r>
              <a:rPr lang="bg-BG" sz="2400" noProof="1">
                <a:latin typeface="Comfortaa" pitchFamily="2" charset="0"/>
              </a:rPr>
              <a:t>Носи ползи за мащабируемостта и поддръжката на приложението</a:t>
            </a:r>
            <a:endParaRPr lang="en-US" sz="2400" noProof="1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28212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Слой за данни</a:t>
            </a:r>
            <a:r>
              <a:rPr lang="en-US" dirty="0">
                <a:latin typeface="Comfortaa" pitchFamily="2" charset="0"/>
              </a:rPr>
              <a:t> [Data Access Layer]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183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37" y="1690688"/>
            <a:ext cx="6509883" cy="4639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Шаблон за дизайн </a:t>
            </a:r>
            <a:r>
              <a:rPr lang="en-US" dirty="0">
                <a:latin typeface="Comfortaa" pitchFamily="2" charset="0"/>
              </a:rPr>
              <a:t>(Design Pattern)</a:t>
            </a:r>
            <a:r>
              <a:rPr lang="bg-BG" dirty="0">
                <a:latin typeface="Comfortaa" pitchFamily="2" charset="0"/>
              </a:rPr>
              <a:t> с три свързани един с друг компонента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Модел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Model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управлява данните и логиката на приложението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Изглед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View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слой за представяне (</a:t>
            </a:r>
            <a:r>
              <a:rPr lang="en-US" dirty="0">
                <a:latin typeface="Comfortaa" pitchFamily="2" charset="0"/>
              </a:rPr>
              <a:t>presentation layer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Контролер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Controller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–  </a:t>
            </a:r>
            <a:r>
              <a:rPr lang="bg-BG" dirty="0">
                <a:latin typeface="Comfortaa" pitchFamily="2" charset="0"/>
              </a:rPr>
              <a:t>преобразува входните данни в команди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ги изпраща към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Изгледа</a:t>
            </a:r>
            <a:r>
              <a:rPr lang="en-US" dirty="0">
                <a:latin typeface="Comfortaa" pitchFamily="2" charset="0"/>
              </a:rPr>
              <a:t>  </a:t>
            </a:r>
            <a:r>
              <a:rPr lang="bg-BG" dirty="0">
                <a:latin typeface="Comfortaa" pitchFamily="2" charset="0"/>
              </a:rPr>
              <a:t>или към модела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8037" y="365125"/>
            <a:ext cx="10619874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Model-View-Controller (MVC)</a:t>
            </a:r>
            <a:r>
              <a:rPr lang="bg-BG" dirty="0">
                <a:latin typeface="Comfortaa" pitchFamily="2" charset="0"/>
              </a:rPr>
              <a:t>- „частен случай“ на трислойния модел</a:t>
            </a:r>
          </a:p>
        </p:txBody>
      </p:sp>
      <p:pic>
        <p:nvPicPr>
          <p:cNvPr id="1026" name="Picture 2" descr="MVC: The Code Structure MVP. Almost all apps and frameworks have a ...">
            <a:extLst>
              <a:ext uri="{FF2B5EF4-FFF2-40B4-BE49-F238E27FC236}">
                <a16:creationId xmlns:a16="http://schemas.microsoft.com/office/drawing/2014/main" id="{A9C0131C-7CE7-35DB-8138-5F26D5AFB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701" y="1485696"/>
            <a:ext cx="4695594" cy="51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183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888546" y="2925405"/>
            <a:ext cx="2794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Comfortaa" pitchFamily="2" charset="0"/>
              </a:rPr>
              <a:t>Отговор </a:t>
            </a:r>
            <a:r>
              <a:rPr lang="bg-BG" sz="700" dirty="0">
                <a:latin typeface="Comfortaa" pitchFamily="2" charset="0"/>
              </a:rPr>
              <a:t> 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(html, json, xml)</a:t>
            </a:r>
            <a:r>
              <a:rPr lang="bg-BG" sz="2000" dirty="0">
                <a:latin typeface="Comfortaa" pitchFamily="2" charset="0"/>
              </a:rPr>
              <a:t>, конзола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0364" y="302441"/>
            <a:ext cx="10515600" cy="1325563"/>
          </a:xfrm>
        </p:spPr>
        <p:txBody>
          <a:bodyPr/>
          <a:lstStyle/>
          <a:p>
            <a:r>
              <a:rPr lang="bg-BG" sz="3600" dirty="0">
                <a:latin typeface="Comfortaa" pitchFamily="2" charset="0"/>
              </a:rPr>
              <a:t>Поток на управлението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3791" y="1385804"/>
            <a:ext cx="233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(</a:t>
            </a:r>
            <a:r>
              <a:rPr lang="en-US" sz="2000" dirty="0">
                <a:latin typeface="Comfortaa" pitchFamily="2" charset="0"/>
              </a:rPr>
              <a:t>Web</a:t>
            </a:r>
            <a:r>
              <a:rPr lang="bg-BG" sz="2000" dirty="0">
                <a:latin typeface="Comfortaa" pitchFamily="2" charset="0"/>
              </a:rPr>
              <a:t>) клиент</a:t>
            </a:r>
            <a:endParaRPr lang="en-US" sz="2000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41" y="3325935"/>
            <a:ext cx="709891" cy="7098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859" y="3336729"/>
            <a:ext cx="705707" cy="7057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580" y="3284585"/>
            <a:ext cx="771119" cy="7711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955" y="1989184"/>
            <a:ext cx="1870776" cy="11208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8359" y="5111481"/>
            <a:ext cx="2601143" cy="9624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Модел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4989" y="2053356"/>
            <a:ext cx="2601143" cy="9624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Контролер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5771" y="5137880"/>
            <a:ext cx="2601143" cy="9624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Изглед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6642602" y="2144990"/>
            <a:ext cx="2470538" cy="13310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03981" y="1589074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Запитване</a:t>
            </a:r>
            <a:endParaRPr lang="en-US" sz="2000" dirty="0">
              <a:latin typeface="Comfortaa" pitchFamily="2" charset="0"/>
            </a:endParaRP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6675226" y="2864091"/>
            <a:ext cx="2457555" cy="0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6155770" y="3152658"/>
            <a:ext cx="2520090" cy="1936867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783793" y="3152657"/>
            <a:ext cx="2451190" cy="1708642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57535" y="4294359"/>
            <a:ext cx="252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Потребителско действие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1727" y="3034118"/>
            <a:ext cx="2138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Актуализира модела</a:t>
            </a:r>
            <a:endParaRPr lang="en-US" sz="2000" dirty="0">
              <a:latin typeface="Comfortaa" pitchFamily="2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009388" y="3529925"/>
            <a:ext cx="1969850" cy="1426735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78306" y="4464363"/>
            <a:ext cx="1787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Известява</a:t>
            </a:r>
            <a:endParaRPr lang="en-US" sz="2000" dirty="0">
              <a:latin typeface="Comfortaa" pitchFamily="2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491359" y="3505628"/>
            <a:ext cx="1908916" cy="1583896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603290" y="4680034"/>
            <a:ext cx="2230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Актуализира изгледа</a:t>
            </a:r>
            <a:endParaRPr lang="en-US" sz="2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29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  <p:bldP spid="10" grpId="0" animBg="1"/>
      <p:bldP spid="11" grpId="0" animBg="1"/>
      <p:bldP spid="12" grpId="0" animBg="1"/>
      <p:bldP spid="15" grpId="0"/>
      <p:bldP spid="35" grpId="0"/>
      <p:bldP spid="36" grpId="0"/>
      <p:bldP spid="46" grpId="0"/>
      <p:bldP spid="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08448" y="1383633"/>
            <a:ext cx="9217079" cy="5045079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8448" y="269953"/>
            <a:ext cx="10566620" cy="1112427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Обща архитектура</a:t>
            </a:r>
          </a:p>
        </p:txBody>
      </p:sp>
      <p:sp>
        <p:nvSpPr>
          <p:cNvPr id="5" name="Can 4"/>
          <p:cNvSpPr/>
          <p:nvPr/>
        </p:nvSpPr>
        <p:spPr>
          <a:xfrm>
            <a:off x="739180" y="2898018"/>
            <a:ext cx="1425604" cy="1848029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g-BG" sz="1400" dirty="0">
                <a:solidFill>
                  <a:schemeClr val="bg1"/>
                </a:solidFill>
                <a:latin typeface="Comfortaa" pitchFamily="2" charset="0"/>
              </a:rPr>
              <a:t>База от данни</a:t>
            </a:r>
          </a:p>
          <a:p>
            <a:r>
              <a:rPr lang="en-US" sz="1400" dirty="0">
                <a:solidFill>
                  <a:schemeClr val="bg1"/>
                </a:solidFill>
                <a:latin typeface="Comfortaa" pitchFamily="2" charset="0"/>
              </a:rPr>
              <a:t>Database</a:t>
            </a:r>
            <a:endParaRPr lang="bg-BG" sz="14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23577" y="1774247"/>
            <a:ext cx="1833159" cy="16764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Хранилище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Repository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36131" y="1774247"/>
            <a:ext cx="1752600" cy="16764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Услуга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Service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36131" y="4366863"/>
            <a:ext cx="1752600" cy="166497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ОПД Модели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DTO</a:t>
            </a:r>
            <a:endParaRPr lang="bg-BG" sz="2000" dirty="0">
              <a:latin typeface="Comfortaa" pitchFamily="2" charset="0"/>
            </a:endParaRPr>
          </a:p>
          <a:p>
            <a:pPr algn="ctr"/>
            <a:r>
              <a:rPr lang="en-US" sz="2000" dirty="0">
                <a:latin typeface="Comfortaa" pitchFamily="2" charset="0"/>
              </a:rPr>
              <a:t>Models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68127" y="1774247"/>
            <a:ext cx="1834962" cy="16764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Контролер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Controller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4135" y="4366863"/>
            <a:ext cx="1752600" cy="166497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Обекти на физическо ниво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Entities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51649" y="3278746"/>
            <a:ext cx="1469995" cy="138303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Изглед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omfortaa" pitchFamily="2" charset="0"/>
              </a:rPr>
              <a:t>View</a:t>
            </a:r>
            <a:endParaRPr lang="bg-BG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266896" y="2841047"/>
            <a:ext cx="754568" cy="609600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080435" y="3529979"/>
            <a:ext cx="0" cy="75238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312431" y="3529979"/>
            <a:ext cx="0" cy="75238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979596" y="2612448"/>
            <a:ext cx="448887" cy="2104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219241" y="2602833"/>
            <a:ext cx="448887" cy="2104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768952" y="3970262"/>
            <a:ext cx="682697" cy="4171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99420" y="4746047"/>
            <a:ext cx="1403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solidFill>
                  <a:srgbClr val="00B0F0"/>
                </a:solidFill>
                <a:latin typeface="Comfortaa" pitchFamily="2" charset="0"/>
              </a:rPr>
              <a:t>Заден план</a:t>
            </a:r>
          </a:p>
          <a:p>
            <a:r>
              <a:rPr lang="en-US" sz="2000" dirty="0">
                <a:solidFill>
                  <a:srgbClr val="00B0F0"/>
                </a:solidFill>
                <a:latin typeface="Comfortaa" pitchFamily="2" charset="0"/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2931892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430" y="1883210"/>
            <a:ext cx="10881982" cy="4379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3600" dirty="0">
                <a:latin typeface="Comfortaa" pitchFamily="2" charset="0"/>
              </a:rPr>
              <a:t>На пръв поглед </a:t>
            </a:r>
            <a:r>
              <a:rPr lang="en-US" sz="3600" dirty="0">
                <a:latin typeface="Comfortaa" pitchFamily="2" charset="0"/>
              </a:rPr>
              <a:t>MVC </a:t>
            </a:r>
            <a:r>
              <a:rPr lang="bg-BG" sz="3600" dirty="0">
                <a:latin typeface="Comfortaa" pitchFamily="2" charset="0"/>
              </a:rPr>
              <a:t>и трислойния модел са едно и също нещо, но това не е така</a:t>
            </a:r>
          </a:p>
          <a:p>
            <a:r>
              <a:rPr lang="bg-BG" sz="3600" dirty="0">
                <a:latin typeface="Comfortaa" pitchFamily="2" charset="0"/>
              </a:rPr>
              <a:t>Прилики</a:t>
            </a:r>
          </a:p>
          <a:p>
            <a:pPr lvl="1"/>
            <a:r>
              <a:rPr lang="bg-BG" dirty="0">
                <a:latin typeface="Comfortaa" pitchFamily="2" charset="0"/>
              </a:rPr>
              <a:t>Разделя на три части</a:t>
            </a:r>
          </a:p>
          <a:p>
            <a:r>
              <a:rPr lang="bg-BG" sz="3600" dirty="0">
                <a:latin typeface="Comfortaa" pitchFamily="2" charset="0"/>
              </a:rPr>
              <a:t>Разлики</a:t>
            </a:r>
          </a:p>
          <a:p>
            <a:pPr lvl="1"/>
            <a:r>
              <a:rPr lang="bg-BG" dirty="0">
                <a:latin typeface="Comfortaa" pitchFamily="2" charset="0"/>
              </a:rPr>
              <a:t>При </a:t>
            </a:r>
            <a:r>
              <a:rPr lang="en-US" dirty="0">
                <a:latin typeface="Comfortaa" pitchFamily="2" charset="0"/>
              </a:rPr>
              <a:t>MVC </a:t>
            </a:r>
            <a:r>
              <a:rPr lang="bg-BG" dirty="0">
                <a:latin typeface="Comfortaa" pitchFamily="2" charset="0"/>
              </a:rPr>
              <a:t>моделът и изгледът могат да са свързани, постигайки триъгълна структура</a:t>
            </a:r>
          </a:p>
          <a:p>
            <a:pPr lvl="1"/>
            <a:r>
              <a:rPr lang="bg-BG" dirty="0">
                <a:latin typeface="Comfortaa" pitchFamily="2" charset="0"/>
              </a:rPr>
              <a:t>При трислойния модел задължително се преминава през слоя за услугите, постигайки линейна структура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7725" y="443956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Трислоен модел и </a:t>
            </a:r>
            <a:r>
              <a:rPr lang="en-US" dirty="0">
                <a:latin typeface="Comfortaa" pitchFamily="2" charset="0"/>
              </a:rPr>
              <a:t>MVC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12F9F2E-7D1B-4D87-9DBC-1A328B361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891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80" y="1433865"/>
            <a:ext cx="11472615" cy="366151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static void Main(string[] 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args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Console.Write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("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Моля въведете страната на квадрат а = ");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a = 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double.Parse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Console.ReadLine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());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P = 4 * a;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S = a * a;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Console.WriteLine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"K</a:t>
            </a:r>
            <a:r>
              <a:rPr lang="bg-BG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вадрат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със страна а = {0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 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има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P={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:f2} 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 ={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:f2}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“,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a, P, S);</a:t>
            </a:r>
          </a:p>
          <a:p>
            <a:pPr marL="0" indent="0">
              <a:buNone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bg-BG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9693" y="546687"/>
            <a:ext cx="11472614" cy="79988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fortaa" pitchFamily="2" charset="0"/>
              </a:rPr>
              <a:t>MVC</a:t>
            </a:r>
            <a:r>
              <a:rPr lang="bg-BG" sz="3600" dirty="0">
                <a:latin typeface="Comfortaa" pitchFamily="2" charset="0"/>
              </a:rPr>
              <a:t> елементарен пример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на ниско ниво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5090" y="5891651"/>
            <a:ext cx="11222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latin typeface="Comfortaa" pitchFamily="2" charset="0"/>
              </a:rPr>
              <a:t>Открийте още изгледи, модели, услуги и контролери в примера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4F616-5125-A4CB-E2AC-9EE453C75423}"/>
              </a:ext>
            </a:extLst>
          </p:cNvPr>
          <p:cNvSpPr/>
          <p:nvPr/>
        </p:nvSpPr>
        <p:spPr>
          <a:xfrm>
            <a:off x="1097325" y="4193595"/>
            <a:ext cx="2625557" cy="410722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1CE04-04A1-1024-9B14-7D477BDE552C}"/>
              </a:ext>
            </a:extLst>
          </p:cNvPr>
          <p:cNvSpPr/>
          <p:nvPr/>
        </p:nvSpPr>
        <p:spPr>
          <a:xfrm>
            <a:off x="3860991" y="4186460"/>
            <a:ext cx="6514823" cy="410722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23CC3-CE4D-FA78-CA76-DAD671CFA1E2}"/>
              </a:ext>
            </a:extLst>
          </p:cNvPr>
          <p:cNvSpPr/>
          <p:nvPr/>
        </p:nvSpPr>
        <p:spPr>
          <a:xfrm>
            <a:off x="10521109" y="4186460"/>
            <a:ext cx="860014" cy="410722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7353DBC-DE57-79F3-7939-EEEDCAC15BB0}"/>
              </a:ext>
            </a:extLst>
          </p:cNvPr>
          <p:cNvSpPr/>
          <p:nvPr/>
        </p:nvSpPr>
        <p:spPr>
          <a:xfrm>
            <a:off x="4938911" y="4993879"/>
            <a:ext cx="2809374" cy="768622"/>
          </a:xfrm>
          <a:prstGeom prst="wedgeRoundRectCallout">
            <a:avLst>
              <a:gd name="adj1" fmla="val -21320"/>
              <a:gd name="adj2" fmla="val -91869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Изглед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D9F8216-86CD-E90D-DA9A-6F73C0915A20}"/>
              </a:ext>
            </a:extLst>
          </p:cNvPr>
          <p:cNvSpPr/>
          <p:nvPr/>
        </p:nvSpPr>
        <p:spPr>
          <a:xfrm>
            <a:off x="8571749" y="4975522"/>
            <a:ext cx="2809374" cy="768622"/>
          </a:xfrm>
          <a:prstGeom prst="wedgeRoundRectCallout">
            <a:avLst>
              <a:gd name="adj1" fmla="val 23022"/>
              <a:gd name="adj2" fmla="val -86136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Модел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BA3290D-2802-3EDF-5B7D-63A09B997008}"/>
              </a:ext>
            </a:extLst>
          </p:cNvPr>
          <p:cNvSpPr/>
          <p:nvPr/>
        </p:nvSpPr>
        <p:spPr>
          <a:xfrm>
            <a:off x="1513920" y="4987342"/>
            <a:ext cx="2809374" cy="768622"/>
          </a:xfrm>
          <a:prstGeom prst="wedgeRoundRectCallout">
            <a:avLst>
              <a:gd name="adj1" fmla="val -21320"/>
              <a:gd name="adj2" fmla="val -91869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Контролер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21A3476-E14B-6C19-BC51-5D52E1FAD42F}"/>
              </a:ext>
            </a:extLst>
          </p:cNvPr>
          <p:cNvSpPr/>
          <p:nvPr/>
        </p:nvSpPr>
        <p:spPr>
          <a:xfrm>
            <a:off x="8460468" y="3123311"/>
            <a:ext cx="2809374" cy="768622"/>
          </a:xfrm>
          <a:prstGeom prst="wedgeRoundRectCallout">
            <a:avLst>
              <a:gd name="adj1" fmla="val -68196"/>
              <a:gd name="adj2" fmla="val 8953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Услуга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471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07881" y="1690688"/>
            <a:ext cx="9631782" cy="42871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MVC </a:t>
            </a:r>
            <a:r>
              <a:rPr lang="bg-BG" sz="3200" dirty="0">
                <a:latin typeface="Comfortaa" pitchFamily="2" charset="0"/>
              </a:rPr>
              <a:t>е шаблон за дизайн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MVC</a:t>
            </a:r>
            <a:r>
              <a:rPr lang="bg-BG" sz="3200" dirty="0">
                <a:latin typeface="Comfortaa" pitchFamily="2" charset="0"/>
              </a:rPr>
              <a:t> подобрява яснотата на кода и структурата му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Моделът представлява данните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Изгледът определя начина за въвеждане и извеждане на данните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Контролерът казва в кои изгледи, кои данни да се покажат или въведат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MVC </a:t>
            </a:r>
            <a:r>
              <a:rPr lang="bg-BG" sz="3200" dirty="0">
                <a:latin typeface="Comfortaa" pitchFamily="2" charset="0"/>
              </a:rPr>
              <a:t>и 3-слойният модел се различават</a:t>
            </a:r>
          </a:p>
          <a:p>
            <a:pPr>
              <a:lnSpc>
                <a:spcPct val="11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155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1285</Words>
  <Application>Microsoft Office PowerPoint</Application>
  <PresentationFormat>Widescreen</PresentationFormat>
  <Paragraphs>156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Comfortaa</vt:lpstr>
      <vt:lpstr>Verdana</vt:lpstr>
      <vt:lpstr>Wingdings</vt:lpstr>
      <vt:lpstr>Office Theme</vt:lpstr>
      <vt:lpstr>Архитектури за реализиране на многопотребителски СУБД</vt:lpstr>
      <vt:lpstr>База от данни</vt:lpstr>
      <vt:lpstr>Система за управление на БД</vt:lpstr>
      <vt:lpstr>Основни понятия свързани със СУБД</vt:lpstr>
      <vt:lpstr>Основни функции на СУБД</vt:lpstr>
      <vt:lpstr>Компоненти на СУБД</vt:lpstr>
      <vt:lpstr>Архитектура за реализиране на СУБД</vt:lpstr>
      <vt:lpstr>PowerPoint Presentation</vt:lpstr>
      <vt:lpstr>Какво е трислоен модел?</vt:lpstr>
      <vt:lpstr>Архитектура на трислойният модел</vt:lpstr>
      <vt:lpstr>Презентационен слой-Presentation Layer </vt:lpstr>
      <vt:lpstr>Слой за услуги-Service Layer </vt:lpstr>
      <vt:lpstr>Слой за данни [Data Access Layer]</vt:lpstr>
      <vt:lpstr>Model-View-Controller (MVC)- „частен случай“ на трислойния модел</vt:lpstr>
      <vt:lpstr>Поток на управлението</vt:lpstr>
      <vt:lpstr>Обща архитектура</vt:lpstr>
      <vt:lpstr>Трислоен модел и MVC</vt:lpstr>
      <vt:lpstr>MVC елементарен пример на ниско ниво</vt:lpstr>
      <vt:lpstr>Обобщение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Иванка П. Стойчева</dc:creator>
  <cp:lastModifiedBy>Иванка П. Стойчева</cp:lastModifiedBy>
  <cp:revision>8</cp:revision>
  <dcterms:created xsi:type="dcterms:W3CDTF">2024-09-11T13:48:46Z</dcterms:created>
  <dcterms:modified xsi:type="dcterms:W3CDTF">2024-09-11T15:54:17Z</dcterms:modified>
</cp:coreProperties>
</file>