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306" r:id="rId2"/>
    <p:sldId id="307" r:id="rId3"/>
    <p:sldId id="302" r:id="rId4"/>
    <p:sldId id="274" r:id="rId5"/>
    <p:sldId id="286" r:id="rId6"/>
    <p:sldId id="287" r:id="rId7"/>
    <p:sldId id="288" r:id="rId8"/>
    <p:sldId id="303" r:id="rId9"/>
    <p:sldId id="289" r:id="rId10"/>
    <p:sldId id="295" r:id="rId11"/>
    <p:sldId id="304" r:id="rId12"/>
    <p:sldId id="301" r:id="rId13"/>
    <p:sldId id="290" r:id="rId14"/>
    <p:sldId id="291" r:id="rId15"/>
    <p:sldId id="292" r:id="rId16"/>
    <p:sldId id="293" r:id="rId17"/>
    <p:sldId id="294" r:id="rId18"/>
  </p:sldIdLst>
  <p:sldSz cx="12192000" cy="6858000"/>
  <p:notesSz cx="6858000" cy="9144000"/>
  <p:custDataLst>
    <p:tags r:id="rId2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F88FB"/>
    <a:srgbClr val="55C0AF"/>
    <a:srgbClr val="113F4E"/>
    <a:srgbClr val="5DA2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740" autoAdjust="0"/>
    <p:restoredTop sz="94660"/>
  </p:normalViewPr>
  <p:slideViewPr>
    <p:cSldViewPr snapToGrid="0">
      <p:cViewPr varScale="1">
        <p:scale>
          <a:sx n="71" d="100"/>
          <a:sy n="71" d="100"/>
        </p:scale>
        <p:origin x="792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CC73A6B-BB26-4B12-BFB8-2B873AE12267}" type="datetimeFigureOut">
              <a:rPr lang="zh-CN" altLang="en-US" smtClean="0"/>
              <a:pPr/>
              <a:t>2026/9/1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2E5701FA-A99B-4EA7-BD9A-49A04217BC0C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65223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8714a43093_3_9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8714a43093_3_9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34978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244360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изображение на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Контейнер за бележ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Контейнер за номер н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5701FA-A99B-4EA7-BD9A-49A04217BC0C}" type="slidenum">
              <a:rPr lang="zh-CN" altLang="en-US" smtClean="0"/>
              <a:pPr/>
              <a:t>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241685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5701FA-A99B-4EA7-BD9A-49A04217BC0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61500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E1ECB1-5A5B-4C6B-8360-EEF4E78043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 altLang="zh-CN" dirty="0"/>
              <a:t>Freepptbackgrounds.net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BFCC059-4D8E-4C87-A4D1-E4C9E1D594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 altLang="zh-CN" dirty="0"/>
              <a:t>www.freepptbackgrounds.net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04FCF4-9A9C-407F-A896-63764D12F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E03D-8E87-4685-917C-91510C442589}" type="datetime1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A6E786-3F61-4FD7-AF4B-5CAEC066F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126972-3EDC-4D3D-817C-4CCC7969F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B37BB-E8A6-440B-8775-2A002C97BC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42905"/>
      </p:ext>
    </p:extLst>
  </p:cSld>
  <p:clrMapOvr>
    <a:masterClrMapping/>
  </p:clrMapOvr>
  <p:transition spd="slow" advClick="0" advTm="1000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1A1C3F-F90A-43A4-9ECD-F00719B565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tr-TR" altLang="zh-CN" dirty="0"/>
              <a:t>Freepptbackgrounds.net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48D4E4-35F0-4517-A710-16EC966268E6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US" altLang="zh-CN" dirty="0"/>
              <a:t>Download free</a:t>
            </a:r>
            <a:endParaRPr lang="tr-TR" altLang="zh-CN" dirty="0"/>
          </a:p>
          <a:p>
            <a:pPr lvl="1"/>
            <a:r>
              <a:rPr lang="en-US" altLang="zh-CN" dirty="0" err="1"/>
              <a:t>Powerpoint</a:t>
            </a:r>
            <a:r>
              <a:rPr lang="en-US" altLang="zh-CN" dirty="0"/>
              <a:t> Template</a:t>
            </a:r>
            <a:endParaRPr lang="tr-TR" altLang="zh-CN" dirty="0"/>
          </a:p>
          <a:p>
            <a:pPr lvl="2"/>
            <a:r>
              <a:rPr lang="en-US" altLang="zh-CN" dirty="0"/>
              <a:t>and </a:t>
            </a:r>
            <a:endParaRPr lang="tr-TR" altLang="zh-CN" dirty="0"/>
          </a:p>
          <a:p>
            <a:pPr lvl="3"/>
            <a:r>
              <a:rPr lang="en-US" altLang="zh-CN" dirty="0"/>
              <a:t>Google slides</a:t>
            </a:r>
            <a:endParaRPr lang="tr-TR" altLang="zh-CN" dirty="0"/>
          </a:p>
          <a:p>
            <a:pPr lvl="4"/>
            <a:r>
              <a:rPr lang="en-US" altLang="zh-CN" dirty="0"/>
              <a:t>Presentation for you.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82627A-5DA8-42DB-A0E5-883D1EDEE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D92F5-1C6A-4791-BE31-F840C05EDF87}" type="datetime1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09759C-075D-43BD-B60D-906336D33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769EA7-A4C8-47A7-9F4D-3E4EF4FEB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B37BB-E8A6-440B-8775-2A002C97BC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920956"/>
      </p:ext>
    </p:extLst>
  </p:cSld>
  <p:clrMapOvr>
    <a:masterClrMapping/>
  </p:clrMapOvr>
  <p:transition spd="slow" advClick="0" advTm="1000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030536-6B8C-499F-B691-282A56B22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 altLang="zh-CN" dirty="0"/>
              <a:t>Freepptbackgrounds.net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92699D7-1ACB-40EF-8948-18C67F14DCC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altLang="zh-CN" dirty="0"/>
              <a:t>www.freepptbackgrounds.net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9C0F2B-275E-4EFF-8736-59FDF6520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12681-C2CF-43AA-98A9-EEF61112B45D}" type="datetime1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6CBD68-7556-4277-A9CC-0E3698CDD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552142-513F-4E0A-A832-EC32ABA8C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B37BB-E8A6-440B-8775-2A002C97BC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2929136"/>
      </p:ext>
    </p:extLst>
  </p:cSld>
  <p:clrMapOvr>
    <a:masterClrMapping/>
  </p:clrMapOvr>
  <p:transition spd="slow" advClick="0" advTm="1000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DA5A0C-41EF-4EF1-B9B9-E309AF8245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tr-TR" altLang="zh-CN" dirty="0"/>
              <a:t>Freepptbackgrounds.net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98F9A6-7009-487C-9335-9B2655AF34B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 dirty="0"/>
              <a:t>Download free</a:t>
            </a:r>
            <a:endParaRPr lang="tr-TR" altLang="zh-CN" dirty="0"/>
          </a:p>
          <a:p>
            <a:pPr lvl="1"/>
            <a:r>
              <a:rPr lang="en-US" altLang="zh-CN" dirty="0" err="1"/>
              <a:t>Powerpoint</a:t>
            </a:r>
            <a:r>
              <a:rPr lang="en-US" altLang="zh-CN" dirty="0"/>
              <a:t> Template</a:t>
            </a:r>
            <a:endParaRPr lang="tr-TR" altLang="zh-CN" dirty="0"/>
          </a:p>
          <a:p>
            <a:pPr lvl="2"/>
            <a:r>
              <a:rPr lang="en-US" altLang="zh-CN" dirty="0"/>
              <a:t>and </a:t>
            </a:r>
            <a:endParaRPr lang="tr-TR" altLang="zh-CN" dirty="0"/>
          </a:p>
          <a:p>
            <a:pPr lvl="3"/>
            <a:r>
              <a:rPr lang="en-US" altLang="zh-CN" dirty="0"/>
              <a:t>Google slides</a:t>
            </a:r>
            <a:endParaRPr lang="tr-TR" altLang="zh-CN" dirty="0"/>
          </a:p>
          <a:p>
            <a:pPr lvl="4"/>
            <a:r>
              <a:rPr lang="en-US" altLang="zh-CN" dirty="0"/>
              <a:t>Presentation for you.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42523A4-6D85-4E26-BAD9-B5DED0F0D86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 dirty="0"/>
              <a:t>Download free</a:t>
            </a:r>
            <a:endParaRPr lang="tr-TR" altLang="zh-CN" dirty="0"/>
          </a:p>
          <a:p>
            <a:pPr lvl="1"/>
            <a:r>
              <a:rPr lang="en-US" altLang="zh-CN" dirty="0" err="1"/>
              <a:t>Powerpoint</a:t>
            </a:r>
            <a:r>
              <a:rPr lang="en-US" altLang="zh-CN" dirty="0"/>
              <a:t> Template</a:t>
            </a:r>
            <a:endParaRPr lang="tr-TR" altLang="zh-CN" dirty="0"/>
          </a:p>
          <a:p>
            <a:pPr lvl="2"/>
            <a:r>
              <a:rPr lang="en-US" altLang="zh-CN" dirty="0"/>
              <a:t>and </a:t>
            </a:r>
            <a:endParaRPr lang="tr-TR" altLang="zh-CN" dirty="0"/>
          </a:p>
          <a:p>
            <a:pPr lvl="3"/>
            <a:r>
              <a:rPr lang="en-US" altLang="zh-CN" dirty="0"/>
              <a:t>Google slides</a:t>
            </a:r>
            <a:endParaRPr lang="tr-TR" altLang="zh-CN" dirty="0"/>
          </a:p>
          <a:p>
            <a:pPr lvl="4"/>
            <a:r>
              <a:rPr lang="en-US" altLang="zh-CN" dirty="0"/>
              <a:t>Presentation for you.</a:t>
            </a:r>
            <a:endParaRPr lang="zh-CN" alt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F1B68CC-03DA-4133-9A62-45795BDC5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EB605-D5B0-4586-8CB6-A5C86532D516}" type="datetime1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7433D43-A8D0-4374-ACF8-E247BE39B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B94F08B-6269-48AE-88E7-BDBB0876F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B37BB-E8A6-440B-8775-2A002C97BC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6417601"/>
      </p:ext>
    </p:extLst>
  </p:cSld>
  <p:clrMapOvr>
    <a:masterClrMapping/>
  </p:clrMapOvr>
  <p:transition spd="slow" advClick="0" advTm="1000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44134E-0BE5-46C0-929C-F9D4A023FD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 altLang="zh-CN" dirty="0"/>
              <a:t>Freepptbackgrounds.net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12113C5-ADEA-4974-BB14-86DAC381EA1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altLang="zh-CN" dirty="0"/>
              <a:t>www.freepptbackgrounds.net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9390FF6-61F4-44DF-9C58-15C7C9EAC01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 dirty="0"/>
              <a:t>Download free</a:t>
            </a:r>
            <a:endParaRPr lang="tr-TR" altLang="zh-CN" dirty="0"/>
          </a:p>
          <a:p>
            <a:pPr lvl="1"/>
            <a:r>
              <a:rPr lang="en-US" altLang="zh-CN" dirty="0" err="1"/>
              <a:t>Powerpoint</a:t>
            </a:r>
            <a:r>
              <a:rPr lang="en-US" altLang="zh-CN" dirty="0"/>
              <a:t> Template</a:t>
            </a:r>
            <a:endParaRPr lang="tr-TR" altLang="zh-CN" dirty="0"/>
          </a:p>
          <a:p>
            <a:pPr lvl="2"/>
            <a:r>
              <a:rPr lang="en-US" altLang="zh-CN" dirty="0"/>
              <a:t>and </a:t>
            </a:r>
            <a:endParaRPr lang="tr-TR" altLang="zh-CN" dirty="0"/>
          </a:p>
          <a:p>
            <a:pPr lvl="3"/>
            <a:r>
              <a:rPr lang="en-US" altLang="zh-CN" dirty="0"/>
              <a:t>Google slides</a:t>
            </a:r>
            <a:endParaRPr lang="tr-TR" altLang="zh-CN" dirty="0"/>
          </a:p>
          <a:p>
            <a:pPr lvl="4"/>
            <a:r>
              <a:rPr lang="en-US" altLang="zh-CN" dirty="0"/>
              <a:t>Presentation for you.</a:t>
            </a:r>
            <a:endParaRPr lang="zh-CN" alt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084E920-1203-43C5-9836-AEA955263377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altLang="zh-CN" dirty="0"/>
              <a:t>www.freepptbackgrounds.net</a:t>
            </a:r>
            <a:endParaRPr lang="zh-CN" alt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1FAE36B-07A4-4C4E-9A5F-B58F2699821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 dirty="0"/>
              <a:t>Download free</a:t>
            </a:r>
            <a:endParaRPr lang="tr-TR" altLang="zh-CN" dirty="0"/>
          </a:p>
          <a:p>
            <a:pPr lvl="1"/>
            <a:r>
              <a:rPr lang="en-US" altLang="zh-CN" dirty="0" err="1"/>
              <a:t>Powerpoint</a:t>
            </a:r>
            <a:r>
              <a:rPr lang="en-US" altLang="zh-CN" dirty="0"/>
              <a:t> Template</a:t>
            </a:r>
            <a:endParaRPr lang="tr-TR" altLang="zh-CN" dirty="0"/>
          </a:p>
          <a:p>
            <a:pPr lvl="2"/>
            <a:r>
              <a:rPr lang="en-US" altLang="zh-CN" dirty="0"/>
              <a:t>and </a:t>
            </a:r>
            <a:endParaRPr lang="tr-TR" altLang="zh-CN" dirty="0"/>
          </a:p>
          <a:p>
            <a:pPr lvl="3"/>
            <a:r>
              <a:rPr lang="en-US" altLang="zh-CN" dirty="0"/>
              <a:t>Google slides</a:t>
            </a:r>
            <a:endParaRPr lang="tr-TR" altLang="zh-CN" dirty="0"/>
          </a:p>
          <a:p>
            <a:pPr lvl="4"/>
            <a:r>
              <a:rPr lang="en-US" altLang="zh-CN" dirty="0"/>
              <a:t>Presentation for you.</a:t>
            </a:r>
            <a:endParaRPr lang="zh-CN" altLang="en-US" dirty="0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C6239AA-BEC2-47D5-B295-1C438B9D2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94162-3E38-4C63-9F6B-AB0DD740A6E4}" type="datetime1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D37E89F-FD72-4884-A2DC-4121C65FD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4094C68-E649-4A58-B70D-88A203523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B37BB-E8A6-440B-8775-2A002C97BC5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9100364" y="6422314"/>
            <a:ext cx="775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www.1ppt.com/hangye/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www.1ppt.com/jieri/  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素材下载：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www.1ppt.com/sucai/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www.1ppt.com/beijing/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图表下载：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www.1ppt.com/tubiao/    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优秀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www.1ppt.com/powerpoint/  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Word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www.1ppt.com/word/              Excel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www.1ppt.com/excel/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资料下载：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www.1ppt.com/ziliao/       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课件下载：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www.1ppt.com/kejian/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范文下载：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www.1ppt.com/fanwen/   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试卷下载：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www.1ppt.com/shiti/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教案下载：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www.1ppt.com/jiaoan/      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www.1ppt.com/ziti/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 </a:t>
            </a:r>
            <a:endParaRPr lang="zh-CN" altLang="en-US" sz="100" dirty="0">
              <a:solidFill>
                <a:prstClr val="white"/>
              </a:solidFill>
              <a:latin typeface="Calibri"/>
              <a:ea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483660699"/>
      </p:ext>
    </p:extLst>
  </p:cSld>
  <p:clrMapOvr>
    <a:masterClrMapping/>
  </p:clrMapOvr>
  <p:transition spd="slow" advClick="0" advTm="1000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5F94A4-B8D7-43C1-80C9-73E124F4F7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tr-TR" altLang="zh-CN" dirty="0"/>
              <a:t>Freepptbackgrounds.net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684A534-7F72-44DB-AAA0-39763DA8C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DC7EB-DBA0-4324-B0CB-D8A402159F5C}" type="datetime1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D8F81B8-2C1B-46DA-9FC4-FA4EA6C31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4DEF5E0-2338-4BAC-8681-B56466F2D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B37BB-E8A6-440B-8775-2A002C97BC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3449038"/>
      </p:ext>
    </p:extLst>
  </p:cSld>
  <p:clrMapOvr>
    <a:masterClrMapping/>
  </p:clrMapOvr>
  <p:transition spd="slow" advClick="0" advTm="1000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5AE1E47-1B45-4380-AE38-48F51410E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86CD8-3C0D-4083-BCC9-2C0ED2787AFE}" type="datetime1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5744B09-219A-4BAE-A64A-BA6F51CC3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E5B1853-F3A0-4843-A7DD-B071FABAE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B37BB-E8A6-440B-8775-2A002C97BC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0800759"/>
      </p:ext>
    </p:extLst>
  </p:cSld>
  <p:clrMapOvr>
    <a:masterClrMapping/>
  </p:clrMapOvr>
  <p:transition spd="slow" advClick="0" advTm="1000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8A05EE-C361-48B2-881C-5FEDBCF95C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altLang="zh-CN" dirty="0"/>
              <a:t>Freepptbackgrounds.net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6B7BA2-C07B-486A-AEBA-E8A379FAE2D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 dirty="0"/>
              <a:t>Download free</a:t>
            </a:r>
            <a:endParaRPr lang="tr-TR" altLang="zh-CN" dirty="0"/>
          </a:p>
          <a:p>
            <a:pPr lvl="1"/>
            <a:r>
              <a:rPr lang="en-US" altLang="zh-CN" dirty="0" err="1"/>
              <a:t>Powerpoint</a:t>
            </a:r>
            <a:r>
              <a:rPr lang="en-US" altLang="zh-CN" dirty="0"/>
              <a:t> Template</a:t>
            </a:r>
            <a:endParaRPr lang="tr-TR" altLang="zh-CN" dirty="0"/>
          </a:p>
          <a:p>
            <a:pPr lvl="2"/>
            <a:r>
              <a:rPr lang="en-US" altLang="zh-CN" dirty="0"/>
              <a:t>and </a:t>
            </a:r>
            <a:endParaRPr lang="tr-TR" altLang="zh-CN" dirty="0"/>
          </a:p>
          <a:p>
            <a:pPr lvl="3"/>
            <a:r>
              <a:rPr lang="en-US" altLang="zh-CN" dirty="0"/>
              <a:t>Google slides</a:t>
            </a:r>
            <a:endParaRPr lang="tr-TR" altLang="zh-CN" dirty="0"/>
          </a:p>
          <a:p>
            <a:pPr lvl="4"/>
            <a:r>
              <a:rPr lang="en-US" altLang="zh-CN" dirty="0"/>
              <a:t>Presentation for you.</a:t>
            </a:r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609B8D7-C342-4349-A52B-0F630C4968F5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altLang="zh-CN" dirty="0"/>
              <a:t>www.freepptbackgrounds.net</a:t>
            </a:r>
            <a:endParaRPr lang="zh-CN" alt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21A0A05-2E78-4B68-9275-72A698131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ECD8D-ACA1-40A8-98A7-D936F3D1A988}" type="datetime1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E8D064B-850C-449A-B16D-36BA1C5A1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3919E08-2488-46A8-8B39-E8E3B1A72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B37BB-E8A6-440B-8775-2A002C97BC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1275376"/>
      </p:ext>
    </p:extLst>
  </p:cSld>
  <p:clrMapOvr>
    <a:masterClrMapping/>
  </p:clrMapOvr>
  <p:transition spd="slow" advClick="0" advTm="1000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19821D-3169-462D-BDC5-707DAA3731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altLang="zh-CN" dirty="0"/>
              <a:t>Freepptbackgrounds.net</a:t>
            </a:r>
            <a:endParaRPr lang="zh-CN" altLang="en-US" dirty="0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25970DE-180B-463A-842D-4B948B1E48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7048C78-1503-4FD7-8859-990F963DFC66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altLang="zh-CN" dirty="0"/>
              <a:t>www.freepptbackgrounds.net</a:t>
            </a:r>
            <a:endParaRPr lang="zh-CN" alt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84969D1-8A89-4051-A7A3-053E791C4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4C489-2E41-41B2-9B14-16A1ECCC1407}" type="datetime1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2B7B8CF-C72E-438F-A999-E8DA54826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F73A437-B948-459B-B14D-44D796DEE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B37BB-E8A6-440B-8775-2A002C97BC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157962"/>
      </p:ext>
    </p:extLst>
  </p:cSld>
  <p:clrMapOvr>
    <a:masterClrMapping/>
  </p:clrMapOvr>
  <p:transition spd="slow" advClick="0" advTm="1000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517C0B-618B-4B07-8FEE-212F45DF64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tr-TR" altLang="zh-CN" dirty="0"/>
              <a:t>Freepptbackgrounds.net</a:t>
            </a:r>
            <a:endParaRPr lang="zh-CN" altLang="en-US" dirty="0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76156C6-4F3E-4B26-BEF6-C658183E3C3C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en-US" altLang="zh-CN" dirty="0"/>
              <a:t>Download free</a:t>
            </a:r>
            <a:endParaRPr lang="tr-TR" altLang="zh-CN" dirty="0"/>
          </a:p>
          <a:p>
            <a:pPr lvl="1"/>
            <a:r>
              <a:rPr lang="en-US" altLang="zh-CN" dirty="0" err="1"/>
              <a:t>Powerpoint</a:t>
            </a:r>
            <a:r>
              <a:rPr lang="en-US" altLang="zh-CN" dirty="0"/>
              <a:t> Template</a:t>
            </a:r>
            <a:endParaRPr lang="tr-TR" altLang="zh-CN" dirty="0"/>
          </a:p>
          <a:p>
            <a:pPr lvl="2"/>
            <a:r>
              <a:rPr lang="en-US" altLang="zh-CN" dirty="0"/>
              <a:t>and </a:t>
            </a:r>
            <a:endParaRPr lang="tr-TR" altLang="zh-CN" dirty="0"/>
          </a:p>
          <a:p>
            <a:pPr lvl="3"/>
            <a:r>
              <a:rPr lang="en-US" altLang="zh-CN" dirty="0"/>
              <a:t>Google slides</a:t>
            </a:r>
            <a:endParaRPr lang="tr-TR" altLang="zh-CN" dirty="0"/>
          </a:p>
          <a:p>
            <a:pPr lvl="4"/>
            <a:r>
              <a:rPr lang="en-US" altLang="zh-CN" dirty="0"/>
              <a:t>Presentation for you.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90B155B-888E-4B42-8139-225B7CE49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AA1F8-B674-4395-B580-9CC876B0DEAD}" type="datetime1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848B8B-A45D-48D2-B95C-C23402348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2847D2-37FF-491E-86F7-2A77B2A5E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B37BB-E8A6-440B-8775-2A002C97BC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1515817"/>
      </p:ext>
    </p:extLst>
  </p:cSld>
  <p:clrMapOvr>
    <a:masterClrMapping/>
  </p:clrMapOvr>
  <p:transition spd="slow" advClick="0" advTm="1000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1B51B0E-C5ED-4931-852F-A8DA7E1DB9A4}"/>
              </a:ext>
            </a:extLst>
          </p:cNvPr>
          <p:cNvSpPr>
            <a:spLocks noGrp="1"/>
          </p:cNvSpPr>
          <p:nvPr>
            <p:ph type="title" orient="vert" hasCustomPrompt="1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 altLang="zh-CN" dirty="0"/>
              <a:t>Freepptbackgrounds.net</a:t>
            </a:r>
            <a:endParaRPr lang="zh-CN" altLang="en-US" dirty="0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65174B4-31E8-4BEF-8942-FD3548C70B75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 dirty="0"/>
              <a:t>Download free</a:t>
            </a:r>
            <a:endParaRPr lang="tr-TR" altLang="zh-CN" dirty="0"/>
          </a:p>
          <a:p>
            <a:pPr lvl="1"/>
            <a:r>
              <a:rPr lang="en-US" altLang="zh-CN" dirty="0" err="1"/>
              <a:t>Powerpoint</a:t>
            </a:r>
            <a:r>
              <a:rPr lang="en-US" altLang="zh-CN" dirty="0"/>
              <a:t> Template</a:t>
            </a:r>
            <a:endParaRPr lang="tr-TR" altLang="zh-CN" dirty="0"/>
          </a:p>
          <a:p>
            <a:pPr lvl="2"/>
            <a:r>
              <a:rPr lang="en-US" altLang="zh-CN" dirty="0"/>
              <a:t>and </a:t>
            </a:r>
            <a:endParaRPr lang="tr-TR" altLang="zh-CN" dirty="0"/>
          </a:p>
          <a:p>
            <a:pPr lvl="3"/>
            <a:r>
              <a:rPr lang="en-US" altLang="zh-CN" dirty="0"/>
              <a:t>Google slides</a:t>
            </a:r>
            <a:endParaRPr lang="tr-TR" altLang="zh-CN" dirty="0"/>
          </a:p>
          <a:p>
            <a:pPr lvl="4"/>
            <a:r>
              <a:rPr lang="en-US" altLang="zh-CN" dirty="0"/>
              <a:t>Presentation for you.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B8F4D3-431E-44CF-A028-C91E2137E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CC853-B42B-4043-A743-206CE85876B2}" type="datetime1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D0F09A-E73B-492B-B10B-3218D86A8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BE3E4A-3F9F-4FA6-A0A2-122D22E57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B37BB-E8A6-440B-8775-2A002C97BC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4763146"/>
      </p:ext>
    </p:extLst>
  </p:cSld>
  <p:clrMapOvr>
    <a:masterClrMapping/>
  </p:clrMapOvr>
  <p:transition spd="slow" advClick="0" advTm="1000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3"/>
          <p:cNvGrpSpPr/>
          <p:nvPr/>
        </p:nvGrpSpPr>
        <p:grpSpPr>
          <a:xfrm>
            <a:off x="2843532" y="951004"/>
            <a:ext cx="6504936" cy="4956005"/>
            <a:chOff x="399425" y="238125"/>
            <a:chExt cx="6810025" cy="5187000"/>
          </a:xfrm>
        </p:grpSpPr>
        <p:sp>
          <p:nvSpPr>
            <p:cNvPr id="45" name="Google Shape;45;p3"/>
            <p:cNvSpPr/>
            <p:nvPr/>
          </p:nvSpPr>
          <p:spPr>
            <a:xfrm>
              <a:off x="399425" y="238325"/>
              <a:ext cx="6810025" cy="5186100"/>
            </a:xfrm>
            <a:custGeom>
              <a:avLst/>
              <a:gdLst/>
              <a:ahLst/>
              <a:cxnLst/>
              <a:rect l="l" t="t" r="r" b="b"/>
              <a:pathLst>
                <a:path w="272401" h="207444" extrusionOk="0">
                  <a:moveTo>
                    <a:pt x="143525" y="0"/>
                  </a:moveTo>
                  <a:cubicBezTo>
                    <a:pt x="130816" y="0"/>
                    <a:pt x="118065" y="708"/>
                    <a:pt x="105367" y="1397"/>
                  </a:cubicBezTo>
                  <a:cubicBezTo>
                    <a:pt x="85699" y="2506"/>
                    <a:pt x="65661" y="3689"/>
                    <a:pt x="47175" y="10640"/>
                  </a:cubicBezTo>
                  <a:cubicBezTo>
                    <a:pt x="28764" y="17590"/>
                    <a:pt x="11832" y="31343"/>
                    <a:pt x="5990" y="50198"/>
                  </a:cubicBezTo>
                  <a:cubicBezTo>
                    <a:pt x="1" y="69867"/>
                    <a:pt x="6877" y="90940"/>
                    <a:pt x="13680" y="110387"/>
                  </a:cubicBezTo>
                  <a:cubicBezTo>
                    <a:pt x="22479" y="135305"/>
                    <a:pt x="31870" y="161332"/>
                    <a:pt x="51390" y="179152"/>
                  </a:cubicBezTo>
                  <a:cubicBezTo>
                    <a:pt x="67098" y="193557"/>
                    <a:pt x="97572" y="207444"/>
                    <a:pt x="121591" y="207444"/>
                  </a:cubicBezTo>
                  <a:cubicBezTo>
                    <a:pt x="124820" y="207444"/>
                    <a:pt x="127933" y="207193"/>
                    <a:pt x="130877" y="206658"/>
                  </a:cubicBezTo>
                  <a:cubicBezTo>
                    <a:pt x="145739" y="204070"/>
                    <a:pt x="159714" y="191205"/>
                    <a:pt x="171840" y="182923"/>
                  </a:cubicBezTo>
                  <a:cubicBezTo>
                    <a:pt x="188625" y="171314"/>
                    <a:pt x="205484" y="159705"/>
                    <a:pt x="222268" y="148097"/>
                  </a:cubicBezTo>
                  <a:cubicBezTo>
                    <a:pt x="236909" y="138041"/>
                    <a:pt x="252067" y="127319"/>
                    <a:pt x="260348" y="111644"/>
                  </a:cubicBezTo>
                  <a:cubicBezTo>
                    <a:pt x="272400" y="88722"/>
                    <a:pt x="266411" y="59071"/>
                    <a:pt x="249996" y="39033"/>
                  </a:cubicBezTo>
                  <a:cubicBezTo>
                    <a:pt x="233507" y="18995"/>
                    <a:pt x="208367" y="7756"/>
                    <a:pt x="182858" y="3098"/>
                  </a:cubicBezTo>
                  <a:cubicBezTo>
                    <a:pt x="169864" y="762"/>
                    <a:pt x="156717" y="0"/>
                    <a:pt x="1435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491875" y="238125"/>
              <a:ext cx="6575225" cy="5187000"/>
            </a:xfrm>
            <a:custGeom>
              <a:avLst/>
              <a:gdLst/>
              <a:ahLst/>
              <a:cxnLst/>
              <a:rect l="l" t="t" r="r" b="b"/>
              <a:pathLst>
                <a:path w="263009" h="207480" extrusionOk="0">
                  <a:moveTo>
                    <a:pt x="139601" y="0"/>
                  </a:moveTo>
                  <a:cubicBezTo>
                    <a:pt x="126957" y="0"/>
                    <a:pt x="114313" y="739"/>
                    <a:pt x="101669" y="1405"/>
                  </a:cubicBezTo>
                  <a:cubicBezTo>
                    <a:pt x="82001" y="2514"/>
                    <a:pt x="61963" y="3697"/>
                    <a:pt x="43477" y="10648"/>
                  </a:cubicBezTo>
                  <a:cubicBezTo>
                    <a:pt x="25066" y="17598"/>
                    <a:pt x="8134" y="31351"/>
                    <a:pt x="2292" y="50206"/>
                  </a:cubicBezTo>
                  <a:cubicBezTo>
                    <a:pt x="665" y="55530"/>
                    <a:pt x="0" y="60928"/>
                    <a:pt x="0" y="66399"/>
                  </a:cubicBezTo>
                  <a:cubicBezTo>
                    <a:pt x="0" y="81114"/>
                    <a:pt x="5028" y="96198"/>
                    <a:pt x="9982" y="110395"/>
                  </a:cubicBezTo>
                  <a:cubicBezTo>
                    <a:pt x="18781" y="135313"/>
                    <a:pt x="28172" y="161340"/>
                    <a:pt x="47692" y="179160"/>
                  </a:cubicBezTo>
                  <a:cubicBezTo>
                    <a:pt x="63442" y="193579"/>
                    <a:pt x="93979" y="207480"/>
                    <a:pt x="118010" y="207480"/>
                  </a:cubicBezTo>
                  <a:cubicBezTo>
                    <a:pt x="121190" y="207480"/>
                    <a:pt x="124221" y="207258"/>
                    <a:pt x="127179" y="206666"/>
                  </a:cubicBezTo>
                  <a:cubicBezTo>
                    <a:pt x="142041" y="204078"/>
                    <a:pt x="156016" y="191213"/>
                    <a:pt x="168142" y="182931"/>
                  </a:cubicBezTo>
                  <a:cubicBezTo>
                    <a:pt x="184927" y="171322"/>
                    <a:pt x="201786" y="159713"/>
                    <a:pt x="218570" y="148105"/>
                  </a:cubicBezTo>
                  <a:cubicBezTo>
                    <a:pt x="233211" y="138049"/>
                    <a:pt x="248369" y="127327"/>
                    <a:pt x="256650" y="111652"/>
                  </a:cubicBezTo>
                  <a:cubicBezTo>
                    <a:pt x="261013" y="103370"/>
                    <a:pt x="263009" y="94127"/>
                    <a:pt x="263009" y="84885"/>
                  </a:cubicBezTo>
                  <a:cubicBezTo>
                    <a:pt x="263009" y="68544"/>
                    <a:pt x="256798" y="51833"/>
                    <a:pt x="246298" y="39041"/>
                  </a:cubicBezTo>
                  <a:cubicBezTo>
                    <a:pt x="229809" y="19003"/>
                    <a:pt x="204669" y="7764"/>
                    <a:pt x="179160" y="3106"/>
                  </a:cubicBezTo>
                  <a:cubicBezTo>
                    <a:pt x="166146" y="813"/>
                    <a:pt x="152910" y="0"/>
                    <a:pt x="1396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7" name="Google Shape;47;p3"/>
          <p:cNvSpPr txBox="1">
            <a:spLocks noGrp="1"/>
          </p:cNvSpPr>
          <p:nvPr>
            <p:ph type="title"/>
          </p:nvPr>
        </p:nvSpPr>
        <p:spPr>
          <a:xfrm>
            <a:off x="3962400" y="2974848"/>
            <a:ext cx="4267200" cy="107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3"/>
          <p:cNvSpPr txBox="1">
            <a:spLocks noGrp="1"/>
          </p:cNvSpPr>
          <p:nvPr>
            <p:ph type="title" idx="2" hasCustomPrompt="1"/>
          </p:nvPr>
        </p:nvSpPr>
        <p:spPr>
          <a:xfrm>
            <a:off x="3962400" y="1548384"/>
            <a:ext cx="3956800" cy="142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49" name="Google Shape;49;p3"/>
          <p:cNvSpPr txBox="1">
            <a:spLocks noGrp="1"/>
          </p:cNvSpPr>
          <p:nvPr>
            <p:ph type="subTitle" idx="1"/>
          </p:nvPr>
        </p:nvSpPr>
        <p:spPr>
          <a:xfrm>
            <a:off x="3964300" y="3998976"/>
            <a:ext cx="4267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grpSp>
        <p:nvGrpSpPr>
          <p:cNvPr id="50" name="Google Shape;50;p3"/>
          <p:cNvGrpSpPr/>
          <p:nvPr/>
        </p:nvGrpSpPr>
        <p:grpSpPr>
          <a:xfrm>
            <a:off x="577134" y="0"/>
            <a:ext cx="11037733" cy="6887600"/>
            <a:chOff x="432850" y="0"/>
            <a:chExt cx="8278300" cy="5165700"/>
          </a:xfrm>
        </p:grpSpPr>
        <p:cxnSp>
          <p:nvCxnSpPr>
            <p:cNvPr id="51" name="Google Shape;51;p3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52" name="Google Shape;52;p3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53" name="Google Shape;53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4" name="Google Shape;54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5" name="Google Shape;55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8" name="Google Shape;58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59" name="Google Shape;59;p3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60" name="Google Shape;60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3" name="Google Shape;63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64" name="Google Shape;64;p3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7" name="Google Shape;67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8" name="Google Shape;68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cxnSp>
          <p:nvCxnSpPr>
            <p:cNvPr id="69" name="Google Shape;69;p3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70" name="Google Shape;70;p3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71" name="Google Shape;71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" name="Google Shape;72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6" name="Google Shape;76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77" name="Google Shape;77;p3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78" name="Google Shape;78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82" name="Google Shape;82;p3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83" name="Google Shape;83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4" name="Google Shape;84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5" name="Google Shape;85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6" name="Google Shape;86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87" name="Google Shape;87;p3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88" name="Google Shape;88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9" name="Google Shape;89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0" name="Google Shape;90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91" name="Google Shape;91;p3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92" name="Google Shape;92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3" name="Google Shape;93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4" name="Google Shape;94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95" name="Google Shape;95;p3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96" name="Google Shape;96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7" name="Google Shape;97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8" name="Google Shape;98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99" name="Google Shape;99;p3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00" name="Google Shape;100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1" name="Google Shape;101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2" name="Google Shape;102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cxnSp>
          <p:nvCxnSpPr>
            <p:cNvPr id="103" name="Google Shape;103;p3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3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5" name="Google Shape;105;p3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1000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C74BBE8-1815-4000-8008-945E8B561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altLang="zh-CN" dirty="0"/>
              <a:t>Freepptbackgrounds.net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3E314DF-819C-4FF1-9C2E-69194E1550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dirty="0"/>
              <a:t>Download free</a:t>
            </a:r>
            <a:endParaRPr lang="tr-TR" altLang="zh-CN" dirty="0"/>
          </a:p>
          <a:p>
            <a:pPr lvl="1"/>
            <a:r>
              <a:rPr lang="en-US" altLang="zh-CN" dirty="0" err="1"/>
              <a:t>Powerpoint</a:t>
            </a:r>
            <a:r>
              <a:rPr lang="en-US" altLang="zh-CN" dirty="0"/>
              <a:t> Template</a:t>
            </a:r>
            <a:endParaRPr lang="tr-TR" altLang="zh-CN" dirty="0"/>
          </a:p>
          <a:p>
            <a:pPr lvl="2"/>
            <a:r>
              <a:rPr lang="en-US" altLang="zh-CN" dirty="0"/>
              <a:t>and </a:t>
            </a:r>
            <a:endParaRPr lang="tr-TR" altLang="zh-CN" dirty="0"/>
          </a:p>
          <a:p>
            <a:pPr lvl="3"/>
            <a:r>
              <a:rPr lang="en-US" altLang="zh-CN" dirty="0"/>
              <a:t>Google slides</a:t>
            </a:r>
            <a:endParaRPr lang="tr-TR" altLang="zh-CN" dirty="0"/>
          </a:p>
          <a:p>
            <a:pPr lvl="4"/>
            <a:r>
              <a:rPr lang="en-US" altLang="zh-CN" dirty="0"/>
              <a:t>Presentation for you.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A1525E-7C66-46A7-89CD-0A0836A4BF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C143D9C7-E07B-46E5-81E0-A577BA4E719C}" type="datetime1">
              <a:rPr lang="zh-CN" altLang="en-US" smtClean="0"/>
              <a:t>2026/9/1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269161-46AB-416B-9C71-590B71BBF5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47D277-5155-4804-A42E-790F5C4F80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B8AB37BB-E8A6-440B-8775-2A002C97BC55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09202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slow" advClick="0" advTm="1000">
    <p:push dir="u"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7" name="Google Shape;2157;p38"/>
          <p:cNvSpPr txBox="1">
            <a:spLocks noGrp="1"/>
          </p:cNvSpPr>
          <p:nvPr>
            <p:ph type="subTitle" idx="1"/>
          </p:nvPr>
        </p:nvSpPr>
        <p:spPr>
          <a:xfrm>
            <a:off x="815083" y="5029937"/>
            <a:ext cx="4267200" cy="914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/>
            <a:r>
              <a:rPr lang="bg-BG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Н. Панайотова</a:t>
            </a:r>
            <a:endParaRPr dirty="0">
              <a:solidFill>
                <a:schemeClr val="accent1">
                  <a:lumMod val="75000"/>
                </a:schemeClr>
              </a:solidFill>
              <a:latin typeface="+mn-lt"/>
              <a:sym typeface="Barlow Semi Condensed"/>
            </a:endParaRPr>
          </a:p>
        </p:txBody>
      </p:sp>
      <p:pic>
        <p:nvPicPr>
          <p:cNvPr id="3" name="Картина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1755" y="250093"/>
            <a:ext cx="2274255" cy="2274255"/>
          </a:xfrm>
          <a:prstGeom prst="rect">
            <a:avLst/>
          </a:prstGeom>
        </p:spPr>
      </p:pic>
      <p:sp>
        <p:nvSpPr>
          <p:cNvPr id="2156" name="Google Shape;2156;p38"/>
          <p:cNvSpPr txBox="1">
            <a:spLocks noGrp="1"/>
          </p:cNvSpPr>
          <p:nvPr>
            <p:ph type="title" idx="2"/>
          </p:nvPr>
        </p:nvSpPr>
        <p:spPr>
          <a:xfrm>
            <a:off x="1872429" y="2524348"/>
            <a:ext cx="7914525" cy="1426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bg-BG" sz="4267" dirty="0"/>
              <a:t>Модели на БД </a:t>
            </a:r>
            <a:br>
              <a:rPr lang="bg-BG" sz="4267" dirty="0"/>
            </a:br>
            <a:r>
              <a:rPr lang="bg-BG" sz="4267" dirty="0"/>
              <a:t>с </a:t>
            </a:r>
            <a:r>
              <a:rPr lang="en-US" sz="4267" dirty="0">
                <a:solidFill>
                  <a:schemeClr val="accent1">
                    <a:lumMod val="75000"/>
                  </a:schemeClr>
                </a:solidFill>
              </a:rPr>
              <a:t>MySQL Workbench</a:t>
            </a:r>
            <a:br>
              <a:rPr lang="bg-BG" sz="4267" dirty="0">
                <a:solidFill>
                  <a:schemeClr val="accent1">
                    <a:lumMod val="75000"/>
                  </a:schemeClr>
                </a:solidFill>
              </a:rPr>
            </a:br>
            <a:br>
              <a:rPr lang="bg-BG" sz="4267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bg-BG" sz="4267" dirty="0"/>
              <a:t>- упражнение</a:t>
            </a:r>
            <a:endParaRPr sz="4267" dirty="0"/>
          </a:p>
        </p:txBody>
      </p:sp>
    </p:spTree>
    <p:extLst>
      <p:ext uri="{BB962C8B-B14F-4D97-AF65-F5344CB8AC3E}">
        <p14:creationId xmlns:p14="http://schemas.microsoft.com/office/powerpoint/2010/main" val="387530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5" name="Rectangle 144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Google Shape;139;p15"/>
          <p:cNvSpPr txBox="1">
            <a:spLocks noGrp="1"/>
          </p:cNvSpPr>
          <p:nvPr>
            <p:ph type="title"/>
          </p:nvPr>
        </p:nvSpPr>
        <p:spPr>
          <a:xfrm>
            <a:off x="464713" y="370098"/>
            <a:ext cx="10515600" cy="1325563"/>
          </a:xfrm>
          <a:prstGeom prst="rect">
            <a:avLst/>
          </a:prstGeom>
        </p:spPr>
        <p:txBody>
          <a:bodyPr spcFirstLastPara="1" lIns="91425" tIns="45700" rIns="91425" bIns="45700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Corbel"/>
              <a:buNone/>
            </a:pPr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Обединение, сечение и разлика</a:t>
            </a:r>
          </a:p>
        </p:txBody>
      </p:sp>
      <p:sp>
        <p:nvSpPr>
          <p:cNvPr id="147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rgbClr val="3F88FB"/>
          </a:solidFill>
          <a:ln w="41275" cap="rnd">
            <a:solidFill>
              <a:schemeClr val="accent1">
                <a:lumMod val="40000"/>
                <a:lumOff val="60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Картина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3295" y="2193380"/>
            <a:ext cx="2924175" cy="1952625"/>
          </a:xfrm>
          <a:prstGeom prst="rect">
            <a:avLst/>
          </a:prstGeom>
        </p:spPr>
      </p:pic>
      <p:pic>
        <p:nvPicPr>
          <p:cNvPr id="4" name="Картина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2258" y="2221954"/>
            <a:ext cx="6086475" cy="1895475"/>
          </a:xfrm>
          <a:prstGeom prst="rect">
            <a:avLst/>
          </a:prstGeom>
        </p:spPr>
      </p:pic>
      <p:sp>
        <p:nvSpPr>
          <p:cNvPr id="5" name="Текстово поле 4"/>
          <p:cNvSpPr txBox="1"/>
          <p:nvPr/>
        </p:nvSpPr>
        <p:spPr>
          <a:xfrm>
            <a:off x="669036" y="4472052"/>
            <a:ext cx="10971889" cy="2031325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bg-BG" dirty="0"/>
              <a:t>Данните са оформени като таблици, които са </a:t>
            </a:r>
            <a:r>
              <a:rPr lang="bg-BG"/>
              <a:t>свързани с </a:t>
            </a:r>
            <a:r>
              <a:rPr lang="bg-BG" dirty="0"/>
              <a:t>връзки помежду им. </a:t>
            </a:r>
            <a:br>
              <a:rPr lang="bg-BG" dirty="0"/>
            </a:br>
            <a:endParaRPr lang="bg-BG" dirty="0"/>
          </a:p>
          <a:p>
            <a:r>
              <a:rPr lang="bg-BG" dirty="0"/>
              <a:t>Тези връзки могат да бъдат в отношения 1:1, 1</a:t>
            </a:r>
            <a:r>
              <a:rPr lang="en-US" dirty="0"/>
              <a:t>:n (</a:t>
            </a:r>
            <a:r>
              <a:rPr lang="bg-BG" dirty="0"/>
              <a:t>1:много) и </a:t>
            </a:r>
            <a:r>
              <a:rPr lang="en-US" dirty="0"/>
              <a:t>n:m (</a:t>
            </a:r>
            <a:r>
              <a:rPr lang="bg-BG" dirty="0" err="1"/>
              <a:t>много:много</a:t>
            </a:r>
            <a:r>
              <a:rPr lang="bg-BG" dirty="0"/>
              <a:t>). </a:t>
            </a:r>
          </a:p>
          <a:p>
            <a:r>
              <a:rPr lang="bg-BG" b="1" dirty="0">
                <a:ln w="0"/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1:1</a:t>
            </a:r>
            <a:r>
              <a:rPr lang="bg-BG" dirty="0">
                <a:solidFill>
                  <a:srgbClr val="0070C0"/>
                </a:solidFill>
              </a:rPr>
              <a:t> </a:t>
            </a:r>
            <a:r>
              <a:rPr lang="bg-BG" dirty="0"/>
              <a:t>– един ученик има само едно ЕГН; една държава има само една столица</a:t>
            </a:r>
            <a:r>
              <a:rPr lang="en-US" dirty="0"/>
              <a:t>.</a:t>
            </a:r>
            <a:endParaRPr lang="bg-BG" dirty="0"/>
          </a:p>
          <a:p>
            <a:r>
              <a:rPr lang="bg-BG" b="1" dirty="0">
                <a:solidFill>
                  <a:srgbClr val="0070C0"/>
                </a:solidFill>
              </a:rPr>
              <a:t>1:</a:t>
            </a:r>
            <a:r>
              <a:rPr lang="en-US" b="1" dirty="0">
                <a:solidFill>
                  <a:srgbClr val="0070C0"/>
                </a:solidFill>
              </a:rPr>
              <a:t>n </a:t>
            </a:r>
            <a:r>
              <a:rPr lang="en-US" dirty="0"/>
              <a:t>– </a:t>
            </a:r>
            <a:r>
              <a:rPr lang="bg-BG" dirty="0"/>
              <a:t>един ученик изучава няколко предмета; една държава има много градове</a:t>
            </a:r>
            <a:r>
              <a:rPr lang="en-US" dirty="0"/>
              <a:t>, </a:t>
            </a:r>
            <a:r>
              <a:rPr lang="bg-BG" dirty="0"/>
              <a:t>в един ден са направени много поръчки.</a:t>
            </a:r>
          </a:p>
          <a:p>
            <a:r>
              <a:rPr lang="en-US" b="1" dirty="0">
                <a:solidFill>
                  <a:srgbClr val="0070C0"/>
                </a:solidFill>
              </a:rPr>
              <a:t>n:m</a:t>
            </a:r>
            <a:r>
              <a:rPr lang="en-US" dirty="0"/>
              <a:t> – </a:t>
            </a:r>
            <a:r>
              <a:rPr lang="bg-BG" dirty="0"/>
              <a:t>много ученици изучават много предмети…</a:t>
            </a:r>
          </a:p>
        </p:txBody>
      </p:sp>
    </p:spTree>
    <p:extLst>
      <p:ext uri="{BB962C8B-B14F-4D97-AF65-F5344CB8AC3E}">
        <p14:creationId xmlns:p14="http://schemas.microsoft.com/office/powerpoint/2010/main" val="3878435718"/>
      </p:ext>
    </p:extLst>
  </p:cSld>
  <p:clrMapOvr>
    <a:masterClrMapping/>
  </p:clrMapOvr>
  <p:transition spd="slow" advClick="0" advTm="1000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Текстово поле 6"/>
          <p:cNvSpPr txBox="1"/>
          <p:nvPr/>
        </p:nvSpPr>
        <p:spPr>
          <a:xfrm>
            <a:off x="502274" y="375152"/>
            <a:ext cx="10543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1 зад: Създайте нова БД с име „</a:t>
            </a:r>
            <a:r>
              <a:rPr lang="bg-BG" dirty="0" err="1">
                <a:latin typeface="Arial" panose="020B0604020202020204" pitchFamily="34" charset="0"/>
                <a:cs typeface="Arial" panose="020B0604020202020204" pitchFamily="34" charset="0"/>
              </a:rPr>
              <a:t>Продажба_на_стоки</a:t>
            </a:r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 със следните таблици. Какво забелязвате?</a:t>
            </a:r>
          </a:p>
        </p:txBody>
      </p:sp>
      <p:sp>
        <p:nvSpPr>
          <p:cNvPr id="8" name="Контейнер за номер на слайда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B37BB-E8A6-440B-8775-2A002C97BC55}" type="slidenum">
              <a:rPr lang="zh-CN" altLang="en-US" smtClean="0"/>
              <a:t>3</a:t>
            </a:fld>
            <a:endParaRPr lang="zh-CN" altLang="en-US" dirty="0"/>
          </a:p>
        </p:txBody>
      </p:sp>
      <p:pic>
        <p:nvPicPr>
          <p:cNvPr id="9" name="Картина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0628" y="909637"/>
            <a:ext cx="6858000" cy="5629275"/>
          </a:xfrm>
          <a:prstGeom prst="rect">
            <a:avLst/>
          </a:prstGeom>
          <a:ln>
            <a:solidFill>
              <a:srgbClr val="3F88FB"/>
            </a:solidFill>
          </a:ln>
        </p:spPr>
      </p:pic>
      <p:sp>
        <p:nvSpPr>
          <p:cNvPr id="11" name="Текстово поле 10"/>
          <p:cNvSpPr txBox="1"/>
          <p:nvPr/>
        </p:nvSpPr>
        <p:spPr>
          <a:xfrm>
            <a:off x="8809147" y="1462116"/>
            <a:ext cx="264768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Повторяемост?</a:t>
            </a:r>
          </a:p>
          <a:p>
            <a:endParaRPr lang="bg-B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ИД?</a:t>
            </a:r>
          </a:p>
          <a:p>
            <a:endParaRPr lang="bg-B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Ключове?</a:t>
            </a:r>
          </a:p>
          <a:p>
            <a:endParaRPr lang="bg-B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Град? </a:t>
            </a:r>
            <a:b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– Дали е правилно без ИД? Желателно ли е?</a:t>
            </a:r>
            <a:b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Не се препоръчва. </a:t>
            </a:r>
          </a:p>
          <a:p>
            <a:endParaRPr lang="bg-BG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bg-B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 създаването на връзки се търси уникалност / </a:t>
            </a:r>
            <a:r>
              <a:rPr lang="bg-BG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неповторяемост</a:t>
            </a:r>
            <a:r>
              <a:rPr lang="bg-B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и ИД е най-подходящ.</a:t>
            </a:r>
          </a:p>
        </p:txBody>
      </p:sp>
    </p:spTree>
    <p:extLst>
      <p:ext uri="{BB962C8B-B14F-4D97-AF65-F5344CB8AC3E}">
        <p14:creationId xmlns:p14="http://schemas.microsoft.com/office/powerpoint/2010/main" val="2336478562"/>
      </p:ext>
    </p:extLst>
  </p:cSld>
  <p:clrMapOvr>
    <a:masterClrMapping/>
  </p:clrMapOvr>
  <p:transition spd="slow" advClick="0" advTm="1000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Картина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0972" y="3727053"/>
            <a:ext cx="5495925" cy="2733675"/>
          </a:xfrm>
          <a:prstGeom prst="rect">
            <a:avLst/>
          </a:prstGeom>
          <a:ln>
            <a:solidFill>
              <a:srgbClr val="3F88FB"/>
            </a:solidFill>
          </a:ln>
        </p:spPr>
      </p:pic>
      <p:pic>
        <p:nvPicPr>
          <p:cNvPr id="7" name="Картина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8846" y="157037"/>
            <a:ext cx="6943725" cy="3200400"/>
          </a:xfrm>
          <a:prstGeom prst="rect">
            <a:avLst/>
          </a:prstGeom>
          <a:ln>
            <a:solidFill>
              <a:srgbClr val="3F88FB"/>
            </a:solidFill>
          </a:ln>
        </p:spPr>
      </p:pic>
      <p:sp>
        <p:nvSpPr>
          <p:cNvPr id="8" name="Контейнер за номер на слайда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B37BB-E8A6-440B-8775-2A002C97BC55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29" name="Текстово поле 28"/>
          <p:cNvSpPr txBox="1"/>
          <p:nvPr/>
        </p:nvSpPr>
        <p:spPr>
          <a:xfrm>
            <a:off x="1598053" y="830955"/>
            <a:ext cx="83841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зад: Решение:</a:t>
            </a:r>
          </a:p>
        </p:txBody>
      </p:sp>
      <p:sp>
        <p:nvSpPr>
          <p:cNvPr id="9" name="Текстово поле 8"/>
          <p:cNvSpPr txBox="1"/>
          <p:nvPr/>
        </p:nvSpPr>
        <p:spPr>
          <a:xfrm>
            <a:off x="1110112" y="2534254"/>
            <a:ext cx="276642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bg-BG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Забележка: </a:t>
            </a:r>
          </a:p>
          <a:p>
            <a:pPr algn="just"/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Имената на таблиците не могат да съдържат интервали, затова се използва конвенцията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snake_case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bg-B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4081756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Картина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4562" y="539431"/>
            <a:ext cx="9172575" cy="2562225"/>
          </a:xfrm>
          <a:prstGeom prst="rect">
            <a:avLst/>
          </a:prstGeom>
          <a:ln>
            <a:solidFill>
              <a:srgbClr val="3F88FB"/>
            </a:solidFill>
          </a:ln>
        </p:spPr>
      </p:pic>
      <p:sp>
        <p:nvSpPr>
          <p:cNvPr id="5" name="Контейнер за номер на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B37BB-E8A6-440B-8775-2A002C97BC55}" type="slidenum">
              <a:rPr lang="zh-CN" altLang="en-US" smtClean="0"/>
              <a:t>5</a:t>
            </a:fld>
            <a:endParaRPr lang="zh-CN" altLang="en-US"/>
          </a:p>
        </p:txBody>
      </p:sp>
      <p:pic>
        <p:nvPicPr>
          <p:cNvPr id="6" name="Картина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6355" y="3405456"/>
            <a:ext cx="5705475" cy="2828925"/>
          </a:xfrm>
          <a:prstGeom prst="rect">
            <a:avLst/>
          </a:prstGeom>
          <a:ln>
            <a:solidFill>
              <a:srgbClr val="3F88FB"/>
            </a:solidFill>
          </a:ln>
        </p:spPr>
      </p:pic>
      <p:sp>
        <p:nvSpPr>
          <p:cNvPr id="7" name="Текстово поле 6"/>
          <p:cNvSpPr txBox="1"/>
          <p:nvPr/>
        </p:nvSpPr>
        <p:spPr>
          <a:xfrm>
            <a:off x="566669" y="3926057"/>
            <a:ext cx="394093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Именуваме необходимите колони и селектираме техния тип със съответната достатъчна дължина. Забележете, че макар ЕГН и телефон да са числови типове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bg-BG" dirty="0" err="1">
                <a:latin typeface="Arial" panose="020B0604020202020204" pitchFamily="34" charset="0"/>
                <a:cs typeface="Arial" panose="020B0604020202020204" pitchFamily="34" charset="0"/>
              </a:rPr>
              <a:t>т.к</a:t>
            </a:r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. с тях няма да се извършват аритметични операции, желателно е да се изпишат като текстов тип.</a:t>
            </a:r>
          </a:p>
        </p:txBody>
      </p:sp>
    </p:spTree>
    <p:extLst>
      <p:ext uri="{BB962C8B-B14F-4D97-AF65-F5344CB8AC3E}">
        <p14:creationId xmlns:p14="http://schemas.microsoft.com/office/powerpoint/2010/main" val="1638020198"/>
      </p:ext>
    </p:extLst>
  </p:cSld>
  <p:clrMapOvr>
    <a:masterClrMapping/>
  </p:clrMapOvr>
  <p:transition spd="slow" advClick="0" advTm="1000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Картина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29" y="185200"/>
            <a:ext cx="4943475" cy="2752725"/>
          </a:xfrm>
          <a:prstGeom prst="rect">
            <a:avLst/>
          </a:prstGeom>
          <a:ln>
            <a:solidFill>
              <a:srgbClr val="3F88FB"/>
            </a:solidFill>
          </a:ln>
        </p:spPr>
      </p:pic>
      <p:pic>
        <p:nvPicPr>
          <p:cNvPr id="4" name="Картина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040" y="3751262"/>
            <a:ext cx="5191125" cy="2466975"/>
          </a:xfrm>
          <a:prstGeom prst="rect">
            <a:avLst/>
          </a:prstGeom>
          <a:ln>
            <a:solidFill>
              <a:srgbClr val="3F88FB"/>
            </a:solidFill>
          </a:ln>
        </p:spPr>
      </p:pic>
      <p:pic>
        <p:nvPicPr>
          <p:cNvPr id="5" name="Картина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0602" y="4846637"/>
            <a:ext cx="3286125" cy="1371600"/>
          </a:xfrm>
          <a:prstGeom prst="rect">
            <a:avLst/>
          </a:prstGeom>
          <a:ln>
            <a:solidFill>
              <a:srgbClr val="3F88FB"/>
            </a:solidFill>
          </a:ln>
        </p:spPr>
      </p:pic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B37BB-E8A6-440B-8775-2A002C97BC55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7" name="Текстово поле 6"/>
          <p:cNvSpPr txBox="1"/>
          <p:nvPr/>
        </p:nvSpPr>
        <p:spPr>
          <a:xfrm>
            <a:off x="5542276" y="391239"/>
            <a:ext cx="572065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Разглеждаме внимателно предложения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SQL </a:t>
            </a:r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код и се опитваме да го разчетем и анализираме, защото след графичния интерфейс, ще започваме да пишем БД изцяло на него, без участието на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GUI. </a:t>
            </a:r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Забелязваме ключовата команда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CREATE TABLE, </a:t>
            </a:r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имената на БД, таблицата и колоните са оцветени в червено между два наклонени </a:t>
            </a:r>
            <a:r>
              <a:rPr lang="bg-BG" dirty="0" err="1">
                <a:latin typeface="Arial" panose="020B0604020202020204" pitchFamily="34" charset="0"/>
                <a:cs typeface="Arial" panose="020B0604020202020204" pitchFamily="34" charset="0"/>
              </a:rPr>
              <a:t>амперсанта</a:t>
            </a:r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. За пари се използва тип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DECIMAL(p,2).</a:t>
            </a:r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8" name="Картина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6637" y="3132192"/>
            <a:ext cx="5705876" cy="1572900"/>
          </a:xfrm>
          <a:prstGeom prst="rect">
            <a:avLst/>
          </a:prstGeom>
          <a:ln>
            <a:solidFill>
              <a:srgbClr val="3F88FB"/>
            </a:solidFill>
          </a:ln>
        </p:spPr>
      </p:pic>
    </p:spTree>
    <p:extLst>
      <p:ext uri="{BB962C8B-B14F-4D97-AF65-F5344CB8AC3E}">
        <p14:creationId xmlns:p14="http://schemas.microsoft.com/office/powerpoint/2010/main" val="917421951"/>
      </p:ext>
    </p:extLst>
  </p:cSld>
  <p:clrMapOvr>
    <a:masterClrMapping/>
  </p:clrMapOvr>
  <p:transition spd="slow" advClick="0" advTm="1000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Картина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552" y="1274203"/>
            <a:ext cx="5819775" cy="2171700"/>
          </a:xfrm>
          <a:prstGeom prst="rect">
            <a:avLst/>
          </a:prstGeom>
          <a:ln>
            <a:solidFill>
              <a:srgbClr val="3F88FB"/>
            </a:solidFill>
          </a:ln>
        </p:spPr>
      </p:pic>
      <p:pic>
        <p:nvPicPr>
          <p:cNvPr id="7" name="Картина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7175" y="2137088"/>
            <a:ext cx="3486150" cy="990600"/>
          </a:xfrm>
          <a:prstGeom prst="rect">
            <a:avLst/>
          </a:prstGeom>
          <a:ln>
            <a:solidFill>
              <a:srgbClr val="3F88FB"/>
            </a:solidFill>
          </a:ln>
        </p:spPr>
      </p:pic>
      <p:pic>
        <p:nvPicPr>
          <p:cNvPr id="8" name="Картина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858" y="4070350"/>
            <a:ext cx="6962775" cy="2286000"/>
          </a:xfrm>
          <a:prstGeom prst="rect">
            <a:avLst/>
          </a:prstGeom>
          <a:ln>
            <a:solidFill>
              <a:srgbClr val="3F88FB"/>
            </a:solidFill>
          </a:ln>
        </p:spPr>
      </p:pic>
      <p:pic>
        <p:nvPicPr>
          <p:cNvPr id="9" name="Картина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7175" y="4650682"/>
            <a:ext cx="3476625" cy="1343025"/>
          </a:xfrm>
          <a:prstGeom prst="rect">
            <a:avLst/>
          </a:prstGeom>
          <a:ln>
            <a:solidFill>
              <a:srgbClr val="3F88FB"/>
            </a:solidFill>
          </a:ln>
        </p:spPr>
      </p:pic>
      <p:sp>
        <p:nvSpPr>
          <p:cNvPr id="11" name="Контейнер за номер на слайда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B37BB-E8A6-440B-8775-2A002C97BC55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12" name="Текстово поле 11"/>
          <p:cNvSpPr txBox="1"/>
          <p:nvPr/>
        </p:nvSpPr>
        <p:spPr>
          <a:xfrm>
            <a:off x="1068945" y="446550"/>
            <a:ext cx="108139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Аналогично се създават останалите таблици като всеки път оглеждаме и анализираме автоматичния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SQL </a:t>
            </a:r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код.</a:t>
            </a:r>
          </a:p>
        </p:txBody>
      </p:sp>
    </p:spTree>
    <p:extLst>
      <p:ext uri="{BB962C8B-B14F-4D97-AF65-F5344CB8AC3E}">
        <p14:creationId xmlns:p14="http://schemas.microsoft.com/office/powerpoint/2010/main" val="4020797449"/>
      </p:ext>
    </p:extLst>
  </p:cSld>
  <p:clrMapOvr>
    <a:masterClrMapping/>
  </p:clrMapOvr>
  <p:transition spd="slow" advClick="0" advTm="1000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номер на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B37BB-E8A6-440B-8775-2A002C97BC55}" type="slidenum">
              <a:rPr lang="zh-CN" altLang="en-US" smtClean="0"/>
              <a:t>8</a:t>
            </a:fld>
            <a:endParaRPr lang="zh-CN" altLang="en-US"/>
          </a:p>
        </p:txBody>
      </p:sp>
      <p:pic>
        <p:nvPicPr>
          <p:cNvPr id="8" name="Картина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20" y="377981"/>
            <a:ext cx="8324850" cy="2238375"/>
          </a:xfrm>
          <a:prstGeom prst="rect">
            <a:avLst/>
          </a:prstGeom>
          <a:ln>
            <a:solidFill>
              <a:srgbClr val="3F88FB"/>
            </a:solidFill>
          </a:ln>
        </p:spPr>
      </p:pic>
      <p:pic>
        <p:nvPicPr>
          <p:cNvPr id="4" name="Картина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2592" y="847568"/>
            <a:ext cx="3952875" cy="1114425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9" name="Текстово поле 8"/>
          <p:cNvSpPr txBox="1"/>
          <p:nvPr/>
        </p:nvSpPr>
        <p:spPr>
          <a:xfrm>
            <a:off x="695459" y="2816596"/>
            <a:ext cx="10800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Както се вижда от </a:t>
            </a:r>
            <a:r>
              <a:rPr lang="bg-BG" dirty="0" err="1">
                <a:latin typeface="Arial" panose="020B0604020202020204" pitchFamily="34" charset="0"/>
                <a:cs typeface="Arial" panose="020B0604020202020204" pitchFamily="34" charset="0"/>
              </a:rPr>
              <a:t>подпрозорците</a:t>
            </a:r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, създадохме 1 БД с 6 таблици. Тук е моментът да се обърне внимание на различните изгледи. Досега използвахме само настройките за таблиците.</a:t>
            </a:r>
          </a:p>
        </p:txBody>
      </p:sp>
      <p:pic>
        <p:nvPicPr>
          <p:cNvPr id="12" name="Картина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8341" y="3794125"/>
            <a:ext cx="7191375" cy="2562225"/>
          </a:xfrm>
          <a:prstGeom prst="rect">
            <a:avLst/>
          </a:prstGeom>
          <a:ln>
            <a:solidFill>
              <a:srgbClr val="3F88FB"/>
            </a:solidFill>
          </a:ln>
        </p:spPr>
      </p:pic>
    </p:spTree>
    <p:extLst>
      <p:ext uri="{BB962C8B-B14F-4D97-AF65-F5344CB8AC3E}">
        <p14:creationId xmlns:p14="http://schemas.microsoft.com/office/powerpoint/2010/main" val="405853400"/>
      </p:ext>
    </p:extLst>
  </p:cSld>
  <p:clrMapOvr>
    <a:masterClrMapping/>
  </p:clrMapOvr>
  <p:transition spd="slow" advClick="0" advTm="1000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Контейнер за номер на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B37BB-E8A6-440B-8775-2A002C97BC55}" type="slidenum">
              <a:rPr lang="zh-CN" altLang="en-US" smtClean="0"/>
              <a:t>9</a:t>
            </a:fld>
            <a:endParaRPr lang="zh-CN" altLang="en-US"/>
          </a:p>
        </p:txBody>
      </p:sp>
      <p:pic>
        <p:nvPicPr>
          <p:cNvPr id="5" name="Картина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4105" y="1147980"/>
            <a:ext cx="6448425" cy="2733675"/>
          </a:xfrm>
          <a:prstGeom prst="rect">
            <a:avLst/>
          </a:prstGeom>
          <a:ln>
            <a:solidFill>
              <a:srgbClr val="3F88FB"/>
            </a:solidFill>
          </a:ln>
        </p:spPr>
      </p:pic>
      <p:sp>
        <p:nvSpPr>
          <p:cNvPr id="12" name="Текстово поле 11"/>
          <p:cNvSpPr txBox="1"/>
          <p:nvPr/>
        </p:nvSpPr>
        <p:spPr>
          <a:xfrm>
            <a:off x="2434105" y="482799"/>
            <a:ext cx="10895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Има още един изглед за попълване на самите таблици с данни. </a:t>
            </a:r>
          </a:p>
        </p:txBody>
      </p:sp>
      <p:pic>
        <p:nvPicPr>
          <p:cNvPr id="14" name="Картина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7289" y="4733808"/>
            <a:ext cx="6638925" cy="1400175"/>
          </a:xfrm>
          <a:prstGeom prst="rect">
            <a:avLst/>
          </a:prstGeom>
          <a:ln>
            <a:solidFill>
              <a:srgbClr val="3F88FB"/>
            </a:solidFill>
          </a:ln>
        </p:spPr>
      </p:pic>
      <p:sp>
        <p:nvSpPr>
          <p:cNvPr id="16" name="Правоъгълник 15"/>
          <p:cNvSpPr/>
          <p:nvPr/>
        </p:nvSpPr>
        <p:spPr>
          <a:xfrm>
            <a:off x="481697" y="3919356"/>
            <a:ext cx="110320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Нека попълним всяка от таблиците с поне 3 записа. При затваряне на </a:t>
            </a:r>
            <a:r>
              <a:rPr lang="bg-BG" dirty="0" err="1">
                <a:latin typeface="Arial" panose="020B0604020202020204" pitchFamily="34" charset="0"/>
                <a:cs typeface="Arial" panose="020B0604020202020204" pitchFamily="34" charset="0"/>
              </a:rPr>
              <a:t>подпрозореца</a:t>
            </a:r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 на таблицата, отново се предлага </a:t>
            </a:r>
            <a:r>
              <a:rPr lang="bg-BG" dirty="0" err="1">
                <a:latin typeface="Arial" panose="020B0604020202020204" pitchFamily="34" charset="0"/>
                <a:cs typeface="Arial" panose="020B0604020202020204" pitchFamily="34" charset="0"/>
              </a:rPr>
              <a:t>авто</a:t>
            </a:r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-генериран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SQL </a:t>
            </a:r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код, който оглеждаме и запазваме с бутон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Finish.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078472100"/>
      </p:ext>
    </p:extLst>
  </p:cSld>
  <p:clrMapOvr>
    <a:masterClrMapping/>
  </p:clrMapOvr>
  <p:transition spd="slow" advClick="0" advTm="1000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Контейнер за номер на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B37BB-E8A6-440B-8775-2A002C97BC55}" type="slidenum">
              <a:rPr lang="zh-CN" altLang="en-US" smtClean="0"/>
              <a:t>10</a:t>
            </a:fld>
            <a:endParaRPr lang="zh-CN" altLang="en-US"/>
          </a:p>
        </p:txBody>
      </p:sp>
      <p:pic>
        <p:nvPicPr>
          <p:cNvPr id="4" name="Картина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8647" y="3154650"/>
            <a:ext cx="3267075" cy="847725"/>
          </a:xfrm>
          <a:prstGeom prst="rect">
            <a:avLst/>
          </a:prstGeom>
          <a:ln>
            <a:solidFill>
              <a:srgbClr val="3F88FB"/>
            </a:solidFill>
          </a:ln>
        </p:spPr>
      </p:pic>
      <p:pic>
        <p:nvPicPr>
          <p:cNvPr id="5" name="Картина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290" y="3087239"/>
            <a:ext cx="4086225" cy="2962275"/>
          </a:xfrm>
          <a:prstGeom prst="rect">
            <a:avLst/>
          </a:prstGeom>
          <a:ln>
            <a:solidFill>
              <a:srgbClr val="3F88FB"/>
            </a:solidFill>
          </a:ln>
        </p:spPr>
      </p:pic>
      <p:pic>
        <p:nvPicPr>
          <p:cNvPr id="6" name="Картина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275" y="527711"/>
            <a:ext cx="5133975" cy="1800225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7" name="Текстово поле 6"/>
          <p:cNvSpPr txBox="1"/>
          <p:nvPr/>
        </p:nvSpPr>
        <p:spPr>
          <a:xfrm>
            <a:off x="6452315" y="527711"/>
            <a:ext cx="490148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Вече сме опознали достатъчно синтаксиса (правилата на конструиране на команди), така че да можем да дописваме предлагания код с още стойности. Понякога могат да се получават предупреждения за грешки. Това е нормално в процеса на учене. Важното е да четете внимателно и опитвате да ги поправяте. </a:t>
            </a:r>
          </a:p>
        </p:txBody>
      </p:sp>
      <p:pic>
        <p:nvPicPr>
          <p:cNvPr id="8" name="Картина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7858" y="3135601"/>
            <a:ext cx="3324225" cy="885825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9" name="Текстово поле 8"/>
          <p:cNvSpPr txBox="1"/>
          <p:nvPr/>
        </p:nvSpPr>
        <p:spPr>
          <a:xfrm>
            <a:off x="5243847" y="4353001"/>
            <a:ext cx="610995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Сега имаме достатъчен поглед, така че може се упражняваме да дописваме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SQL-</a:t>
            </a:r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код в диалоговия прозорец за всяка създадена таблица с нови </a:t>
            </a:r>
            <a:r>
              <a:rPr lang="bg-BG" dirty="0" err="1">
                <a:latin typeface="Arial" panose="020B0604020202020204" pitchFamily="34" charset="0"/>
                <a:cs typeface="Arial" panose="020B0604020202020204" pitchFamily="34" charset="0"/>
              </a:rPr>
              <a:t>промеливи</a:t>
            </a:r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 стойности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като отново обърнем внимание на разликата между наклонени кавички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``</a:t>
            </a:r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 за имена на полетата в червено и прави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‘’ </a:t>
            </a:r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за техните стойности в оранжево.</a:t>
            </a:r>
          </a:p>
        </p:txBody>
      </p:sp>
    </p:spTree>
    <p:extLst>
      <p:ext uri="{BB962C8B-B14F-4D97-AF65-F5344CB8AC3E}">
        <p14:creationId xmlns:p14="http://schemas.microsoft.com/office/powerpoint/2010/main" val="1683151595"/>
      </p:ext>
    </p:extLst>
  </p:cSld>
  <p:clrMapOvr>
    <a:masterClrMapping/>
  </p:clrMapOvr>
  <p:transition spd="slow" advClick="0" advTm="1000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Контейнер за номер на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B37BB-E8A6-440B-8775-2A002C97BC55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10" name="Текстово поле 9"/>
          <p:cNvSpPr txBox="1"/>
          <p:nvPr/>
        </p:nvSpPr>
        <p:spPr>
          <a:xfrm>
            <a:off x="502275" y="5275843"/>
            <a:ext cx="110114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Причината за съобщението за грешка е </a:t>
            </a:r>
            <a:r>
              <a:rPr lang="bg-BG" dirty="0" err="1">
                <a:latin typeface="Arial" panose="020B0604020202020204" pitchFamily="34" charset="0"/>
                <a:cs typeface="Arial" panose="020B0604020202020204" pitchFamily="34" charset="0"/>
              </a:rPr>
              <a:t>невъведен</a:t>
            </a:r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 телефон, който бяхме маркирали като задължителен, а няма стойност по подразбиране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default.</a:t>
            </a:r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 Вече може да разгледаме останалите елементи от изгледа – </a:t>
            </a:r>
            <a:r>
              <a:rPr lang="bg-BG" dirty="0" err="1">
                <a:latin typeface="Arial" panose="020B0604020202020204" pitchFamily="34" charset="0"/>
                <a:cs typeface="Arial" panose="020B0604020202020204" pitchFamily="34" charset="0"/>
              </a:rPr>
              <a:t>подпрозореца</a:t>
            </a:r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 за писане на заявки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Queri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в който има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SQL</a:t>
            </a:r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-код, бутон за изпълнение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Execute </a:t>
            </a:r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и подобно на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VS, </a:t>
            </a:r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в долната част на екрана са последователните изпълнения.</a:t>
            </a:r>
          </a:p>
        </p:txBody>
      </p:sp>
      <p:pic>
        <p:nvPicPr>
          <p:cNvPr id="12" name="Картина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1919" y="351418"/>
            <a:ext cx="6715125" cy="4924425"/>
          </a:xfrm>
          <a:prstGeom prst="rect">
            <a:avLst/>
          </a:prstGeom>
          <a:ln>
            <a:solidFill>
              <a:srgbClr val="3F88FB"/>
            </a:solidFill>
          </a:ln>
        </p:spPr>
      </p:pic>
    </p:spTree>
    <p:extLst>
      <p:ext uri="{BB962C8B-B14F-4D97-AF65-F5344CB8AC3E}">
        <p14:creationId xmlns:p14="http://schemas.microsoft.com/office/powerpoint/2010/main" val="3270696673"/>
      </p:ext>
    </p:extLst>
  </p:cSld>
  <p:clrMapOvr>
    <a:masterClrMapping/>
  </p:clrMapOvr>
  <p:transition spd="slow" advClick="0" advTm="1000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Картина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6581" y="872208"/>
            <a:ext cx="3095625" cy="4752975"/>
          </a:xfrm>
          <a:prstGeom prst="rect">
            <a:avLst/>
          </a:prstGeom>
          <a:ln>
            <a:solidFill>
              <a:srgbClr val="3F88FB"/>
            </a:solidFill>
          </a:ln>
        </p:spPr>
      </p:pic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B37BB-E8A6-440B-8775-2A002C97BC55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8" name="Текстово поле 7"/>
          <p:cNvSpPr txBox="1"/>
          <p:nvPr/>
        </p:nvSpPr>
        <p:spPr>
          <a:xfrm>
            <a:off x="914069" y="724039"/>
            <a:ext cx="6143554" cy="535531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Данните са оформени като таблици, които са свързани с релации / връзки помежду им. Остава да разгледаме и как се създават връзки в изгледа за диаграми. Отново ще подходим първо чрез интерактивния графичен модел и възможностите за </a:t>
            </a:r>
            <a:r>
              <a:rPr lang="bg-BG" dirty="0" err="1">
                <a:latin typeface="Arial" panose="020B0604020202020204" pitchFamily="34" charset="0"/>
                <a:cs typeface="Arial" panose="020B0604020202020204" pitchFamily="34" charset="0"/>
              </a:rPr>
              <a:t>провлачване</a:t>
            </a:r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 и поставяне на желаните таблици, защото е по-нагледен и интуитивен. </a:t>
            </a:r>
          </a:p>
          <a:p>
            <a:pPr algn="just"/>
            <a:endParaRPr lang="bg-B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Тези връзки могат да бъдат в отношения 1:1, 1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:n (</a:t>
            </a:r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1:много) и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n:m (</a:t>
            </a:r>
            <a:r>
              <a:rPr lang="bg-BG" dirty="0" err="1">
                <a:latin typeface="Arial" panose="020B0604020202020204" pitchFamily="34" charset="0"/>
                <a:cs typeface="Arial" panose="020B0604020202020204" pitchFamily="34" charset="0"/>
              </a:rPr>
              <a:t>много:много</a:t>
            </a:r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). </a:t>
            </a:r>
          </a:p>
          <a:p>
            <a:pPr algn="just"/>
            <a:r>
              <a:rPr lang="bg-BG" b="1" dirty="0">
                <a:ln w="0"/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1:1</a:t>
            </a:r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 – един ученик има само едно ЕГН; една държава има само една столица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bg-B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bg-BG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1:</a:t>
            </a:r>
            <a:r>
              <a:rPr lang="en-US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един ученик изучава няколко предмета; една държава има много градове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в един ден са направени много поръчки.</a:t>
            </a:r>
          </a:p>
          <a:p>
            <a:pPr algn="just"/>
            <a:r>
              <a:rPr lang="en-US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n:m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много ученици изучават много предмети…</a:t>
            </a:r>
          </a:p>
          <a:p>
            <a:pPr algn="just"/>
            <a:endParaRPr lang="bg-B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GUI </a:t>
            </a:r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обикновено предлага няколко начина за достигане на даден изглед. Нека разгледаме един от тях.</a:t>
            </a:r>
          </a:p>
        </p:txBody>
      </p:sp>
    </p:spTree>
    <p:extLst>
      <p:ext uri="{BB962C8B-B14F-4D97-AF65-F5344CB8AC3E}">
        <p14:creationId xmlns:p14="http://schemas.microsoft.com/office/powerpoint/2010/main" val="52604089"/>
      </p:ext>
    </p:extLst>
  </p:cSld>
  <p:clrMapOvr>
    <a:masterClrMapping/>
  </p:clrMapOvr>
  <p:transition spd="slow" advClick="0" advTm="1000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Картина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0712" y="60838"/>
            <a:ext cx="8410575" cy="6581775"/>
          </a:xfrm>
          <a:prstGeom prst="rect">
            <a:avLst/>
          </a:prstGeom>
          <a:ln>
            <a:solidFill>
              <a:srgbClr val="3F88FB"/>
            </a:solidFill>
          </a:ln>
        </p:spPr>
      </p:pic>
      <p:sp>
        <p:nvSpPr>
          <p:cNvPr id="5" name="Контейнер за номер на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B37BB-E8A6-440B-8775-2A002C97BC55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3258517"/>
      </p:ext>
    </p:extLst>
  </p:cSld>
  <p:clrMapOvr>
    <a:masterClrMapping/>
  </p:clrMapOvr>
  <p:transition spd="slow" advClick="0" advTm="1000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Картина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545" y="78951"/>
            <a:ext cx="6943725" cy="4124325"/>
          </a:xfrm>
          <a:prstGeom prst="rect">
            <a:avLst/>
          </a:prstGeom>
          <a:ln>
            <a:solidFill>
              <a:srgbClr val="3F88FB"/>
            </a:solidFill>
          </a:ln>
        </p:spPr>
      </p:pic>
      <p:pic>
        <p:nvPicPr>
          <p:cNvPr id="3" name="Картина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4849" y="1617170"/>
            <a:ext cx="6052200" cy="4739180"/>
          </a:xfrm>
          <a:prstGeom prst="rect">
            <a:avLst/>
          </a:prstGeom>
          <a:ln>
            <a:solidFill>
              <a:srgbClr val="3F88FB"/>
            </a:solidFill>
          </a:ln>
        </p:spPr>
      </p:pic>
      <p:sp>
        <p:nvSpPr>
          <p:cNvPr id="5" name="Контейнер за номер на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B37BB-E8A6-440B-8775-2A002C97BC55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6609614"/>
      </p:ext>
    </p:extLst>
  </p:cSld>
  <p:clrMapOvr>
    <a:masterClrMapping/>
  </p:clrMapOvr>
  <p:transition spd="slow" advClick="0" advTm="1000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Картина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764" y="673123"/>
            <a:ext cx="4638675" cy="2085975"/>
          </a:xfrm>
          <a:prstGeom prst="rect">
            <a:avLst/>
          </a:prstGeom>
          <a:ln>
            <a:solidFill>
              <a:srgbClr val="3F88FB"/>
            </a:solidFill>
          </a:ln>
        </p:spPr>
      </p:pic>
      <p:pic>
        <p:nvPicPr>
          <p:cNvPr id="3" name="Картина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3125" y="673123"/>
            <a:ext cx="5400675" cy="2314575"/>
          </a:xfrm>
          <a:prstGeom prst="rect">
            <a:avLst/>
          </a:prstGeom>
          <a:ln>
            <a:solidFill>
              <a:srgbClr val="3F88FB"/>
            </a:solidFill>
          </a:ln>
        </p:spPr>
      </p:pic>
      <p:pic>
        <p:nvPicPr>
          <p:cNvPr id="8" name="Картина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4157" y="4034799"/>
            <a:ext cx="6467475" cy="1590675"/>
          </a:xfrm>
          <a:prstGeom prst="rect">
            <a:avLst/>
          </a:prstGeom>
          <a:ln>
            <a:solidFill>
              <a:srgbClr val="3F88FB"/>
            </a:solidFill>
          </a:ln>
        </p:spPr>
      </p:pic>
      <p:sp>
        <p:nvSpPr>
          <p:cNvPr id="9" name="Контейнер за номер на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B37BB-E8A6-440B-8775-2A002C97BC55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9644600"/>
      </p:ext>
    </p:extLst>
  </p:cSld>
  <p:clrMapOvr>
    <a:masterClrMapping/>
  </p:clrMapOvr>
  <p:transition spd="slow" advClick="0" advTm="1000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Картина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9" y="107994"/>
            <a:ext cx="8429625" cy="3838575"/>
          </a:xfrm>
          <a:prstGeom prst="rect">
            <a:avLst/>
          </a:prstGeom>
          <a:ln>
            <a:solidFill>
              <a:srgbClr val="3F88FB"/>
            </a:solidFill>
          </a:ln>
        </p:spPr>
      </p:pic>
      <p:pic>
        <p:nvPicPr>
          <p:cNvPr id="2" name="Картина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0475" y="3096161"/>
            <a:ext cx="8391525" cy="3800475"/>
          </a:xfrm>
          <a:prstGeom prst="rect">
            <a:avLst/>
          </a:prstGeom>
          <a:ln>
            <a:solidFill>
              <a:srgbClr val="3F88FB"/>
            </a:solidFill>
          </a:ln>
        </p:spPr>
      </p:pic>
      <p:sp>
        <p:nvSpPr>
          <p:cNvPr id="5" name="Контейнер за номер на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B37BB-E8A6-440B-8775-2A002C97BC55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8385746"/>
      </p:ext>
    </p:extLst>
  </p:cSld>
  <p:clrMapOvr>
    <a:masterClrMapping/>
  </p:clrMapOvr>
  <p:transition spd="slow" advClick="0" advTm="1000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Картина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520" y="742819"/>
            <a:ext cx="6848475" cy="5514975"/>
          </a:xfrm>
          <a:prstGeom prst="rect">
            <a:avLst/>
          </a:prstGeom>
          <a:ln>
            <a:solidFill>
              <a:srgbClr val="3F88FB"/>
            </a:solidFill>
          </a:ln>
        </p:spPr>
      </p:pic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B37BB-E8A6-440B-8775-2A002C97BC55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2" name="Текстово поле 1"/>
          <p:cNvSpPr txBox="1"/>
          <p:nvPr/>
        </p:nvSpPr>
        <p:spPr>
          <a:xfrm>
            <a:off x="759853" y="168834"/>
            <a:ext cx="9543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b="1" dirty="0"/>
              <a:t>Оглеждаме за грешки</a:t>
            </a:r>
          </a:p>
        </p:txBody>
      </p:sp>
      <p:sp>
        <p:nvSpPr>
          <p:cNvPr id="3" name="Правоъгълник 2"/>
          <p:cNvSpPr/>
          <p:nvPr/>
        </p:nvSpPr>
        <p:spPr>
          <a:xfrm>
            <a:off x="287628" y="6316375"/>
            <a:ext cx="104876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bg-BG" dirty="0"/>
              <a:t>имената на таблиците са в единствено число, а трябва да са в множествено</a:t>
            </a:r>
          </a:p>
        </p:txBody>
      </p:sp>
    </p:spTree>
    <p:extLst>
      <p:ext uri="{BB962C8B-B14F-4D97-AF65-F5344CB8AC3E}">
        <p14:creationId xmlns:p14="http://schemas.microsoft.com/office/powerpoint/2010/main" val="4040430482"/>
      </p:ext>
    </p:extLst>
  </p:cSld>
  <p:clrMapOvr>
    <a:masterClrMapping/>
  </p:clrMapOvr>
  <p:transition spd="slow" advClick="0" advTm="1000">
    <p:push dir="u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PowerPoint 演示文稿"/>
</p:tagLst>
</file>

<file path=ppt/theme/theme1.xml><?xml version="1.0" encoding="utf-8"?>
<a:theme xmlns:a="http://schemas.openxmlformats.org/drawingml/2006/main" name="Formal Presentation Template，Freepptbackgrounds.ne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2699</TotalTime>
  <Words>742</Words>
  <Application>Microsoft Office PowerPoint</Application>
  <PresentationFormat>Widescreen</PresentationFormat>
  <Paragraphs>57</Paragraphs>
  <Slides>17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微软雅黑</vt:lpstr>
      <vt:lpstr>Arial</vt:lpstr>
      <vt:lpstr>Barlow Semi Condensed</vt:lpstr>
      <vt:lpstr>Calibri</vt:lpstr>
      <vt:lpstr>Century Gothic</vt:lpstr>
      <vt:lpstr>Corbel</vt:lpstr>
      <vt:lpstr>Formal Presentation Template，Freepptbackgrounds.net</vt:lpstr>
      <vt:lpstr>Модели на БД  с MySQL Workbench  - упражнение</vt:lpstr>
      <vt:lpstr>Обединение, сечение и разлика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Freepptbackgrounds.net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Formal Presentation Template</dc:title>
  <dc:subject>Powerpoint Template</dc:subject>
  <dc:creator>Freepptbackgrounds.net</dc:creator>
  <cp:keywords>Formal Presentation Template</cp:keywords>
  <dc:description>Formal Presentation Template_x000d_
www.freepptbackgrounds.net</dc:description>
  <cp:lastModifiedBy>hp</cp:lastModifiedBy>
  <cp:revision>318</cp:revision>
  <dcterms:created xsi:type="dcterms:W3CDTF">2018-02-23T07:21:57Z</dcterms:created>
  <dcterms:modified xsi:type="dcterms:W3CDTF">2026-09-01T17:17:49Z</dcterms:modified>
</cp:coreProperties>
</file>