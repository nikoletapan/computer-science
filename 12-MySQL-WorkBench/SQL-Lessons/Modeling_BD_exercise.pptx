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4"/>
  </p:notesMasterIdLst>
  <p:sldIdLst>
    <p:sldId id="256" r:id="rId2"/>
    <p:sldId id="580" r:id="rId3"/>
    <p:sldId id="581" r:id="rId4"/>
    <p:sldId id="257" r:id="rId5"/>
    <p:sldId id="582" r:id="rId6"/>
    <p:sldId id="583" r:id="rId7"/>
    <p:sldId id="258" r:id="rId8"/>
    <p:sldId id="577" r:id="rId9"/>
    <p:sldId id="585" r:id="rId10"/>
    <p:sldId id="587" r:id="rId11"/>
    <p:sldId id="586" r:id="rId12"/>
    <p:sldId id="584" r:id="rId13"/>
  </p:sldIdLst>
  <p:sldSz cx="12192000" cy="6858000"/>
  <p:notesSz cx="6858000" cy="9144000"/>
  <p:embeddedFontLst>
    <p:embeddedFont>
      <p:font typeface="Trebuchet MS" panose="020B0603020202020204" pitchFamily="34" charset="0"/>
      <p:regular r:id="rId15"/>
      <p:bold r:id="rId16"/>
      <p:italic r:id="rId17"/>
      <p:boldItalic r:id="rId18"/>
    </p:embeddedFont>
    <p:embeddedFont>
      <p:font typeface="Tw Cen MT" panose="020B0602020104020603" pitchFamily="34" charset="0"/>
      <p:regular r:id="rId19"/>
      <p:bold r:id="rId20"/>
      <p:italic r:id="rId21"/>
      <p:boldItalic r:id="rId22"/>
    </p:embeddedFont>
    <p:embeddedFont>
      <p:font typeface="Corbel" panose="020B050302020402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ен стил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517807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689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1946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2664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827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77277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833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233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12710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9538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8550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949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190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5305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1180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196469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912450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35862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495169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545389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24819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2060404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027187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021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51273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ctrTitle"/>
          </p:nvPr>
        </p:nvSpPr>
        <p:spPr>
          <a:xfrm>
            <a:off x="1876424" y="3726212"/>
            <a:ext cx="8791575" cy="13016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6000"/>
            </a:pPr>
            <a:r>
              <a:rPr lang="en-US" dirty="0"/>
              <a:t>ТИПОВЕ ДАННИ. </a:t>
            </a:r>
            <a:r>
              <a:rPr lang="bg-BG" dirty="0" smtClean="0"/>
              <a:t>полета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43" name="Google Shape;143;p19"/>
          <p:cNvSpPr txBox="1"/>
          <p:nvPr/>
        </p:nvSpPr>
        <p:spPr>
          <a:xfrm>
            <a:off x="8941680" y="5443367"/>
            <a:ext cx="2085712" cy="86599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5000"/>
            </a:pPr>
            <a:r>
              <a:rPr lang="bg-BG" sz="2000" cap="all" dirty="0" smtClean="0">
                <a:solidFill>
                  <a:schemeClr val="tx2"/>
                </a:solidFill>
                <a:sym typeface="Corbel"/>
              </a:rPr>
              <a:t>Н. Панайотова</a:t>
            </a:r>
            <a:endParaRPr lang="en-US" sz="2000" b="0" i="0" u="none" strike="noStrike" cap="all" dirty="0">
              <a:solidFill>
                <a:schemeClr val="tx2"/>
              </a:solidFill>
              <a:sym typeface="Corbel"/>
            </a:endParaRPr>
          </a:p>
        </p:txBody>
      </p:sp>
      <p:pic>
        <p:nvPicPr>
          <p:cNvPr id="178" name="Graphic 177" descr="Tanabata Tree">
            <a:extLst>
              <a:ext uri="{FF2B5EF4-FFF2-40B4-BE49-F238E27FC236}">
                <a16:creationId xmlns="" xmlns:a16="http://schemas.microsoft.com/office/drawing/2014/main" id="{98ECF750-930B-1200-3BF5-77D57BD1B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1837" y="416922"/>
            <a:ext cx="2893808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2" descr="Ð¡Ð²ÑÑÐ·Ð°Ð½Ð¾ Ð¸Ð·Ð¾Ð±ÑÐ°Ð¶ÐµÐ½Ð¸Ðµ">
            <a:extLst>
              <a:ext uri="{FF2B5EF4-FFF2-40B4-BE49-F238E27FC236}">
                <a16:creationId xmlns:a16="http://schemas.microsoft.com/office/drawing/2014/main" xmlns="" id="{46988513-1D55-4D43-8BD2-8B974E294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688" y="963113"/>
            <a:ext cx="32480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авоъгълник 2"/>
          <p:cNvSpPr/>
          <p:nvPr/>
        </p:nvSpPr>
        <p:spPr>
          <a:xfrm>
            <a:off x="2593074" y="914403"/>
            <a:ext cx="6632812" cy="492684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Правоъгълник 4"/>
          <p:cNvSpPr/>
          <p:nvPr/>
        </p:nvSpPr>
        <p:spPr>
          <a:xfrm>
            <a:off x="2920621" y="2210941"/>
            <a:ext cx="2743200" cy="328911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Текстово поле 5"/>
          <p:cNvSpPr txBox="1"/>
          <p:nvPr/>
        </p:nvSpPr>
        <p:spPr>
          <a:xfrm flipH="1">
            <a:off x="3507472" y="2374714"/>
            <a:ext cx="1555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Schema </a:t>
            </a:r>
            <a:endParaRPr lang="bg-BG" sz="3200" dirty="0"/>
          </a:p>
        </p:txBody>
      </p:sp>
      <p:sp>
        <p:nvSpPr>
          <p:cNvPr id="7" name="Правоъгълник 6"/>
          <p:cNvSpPr/>
          <p:nvPr/>
        </p:nvSpPr>
        <p:spPr>
          <a:xfrm>
            <a:off x="3248167" y="3302762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Текстово поле 7"/>
          <p:cNvSpPr txBox="1"/>
          <p:nvPr/>
        </p:nvSpPr>
        <p:spPr>
          <a:xfrm>
            <a:off x="3364173" y="3483173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10" name="Правоъгълник 9"/>
          <p:cNvSpPr/>
          <p:nvPr/>
        </p:nvSpPr>
        <p:spPr>
          <a:xfrm>
            <a:off x="4435522" y="3292105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Текстово поле 10"/>
          <p:cNvSpPr txBox="1"/>
          <p:nvPr/>
        </p:nvSpPr>
        <p:spPr>
          <a:xfrm>
            <a:off x="4551528" y="3472516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12" name="Правоъгълник 11"/>
          <p:cNvSpPr/>
          <p:nvPr/>
        </p:nvSpPr>
        <p:spPr>
          <a:xfrm>
            <a:off x="3227695" y="4389837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Текстово поле 12"/>
          <p:cNvSpPr txBox="1"/>
          <p:nvPr/>
        </p:nvSpPr>
        <p:spPr>
          <a:xfrm>
            <a:off x="3343701" y="4570248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14" name="Правоъгълник 13"/>
          <p:cNvSpPr/>
          <p:nvPr/>
        </p:nvSpPr>
        <p:spPr>
          <a:xfrm>
            <a:off x="4415050" y="4354876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Текстово поле 14"/>
          <p:cNvSpPr txBox="1"/>
          <p:nvPr/>
        </p:nvSpPr>
        <p:spPr>
          <a:xfrm>
            <a:off x="4531056" y="4535287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16" name="Правоъгълник 15"/>
          <p:cNvSpPr/>
          <p:nvPr/>
        </p:nvSpPr>
        <p:spPr>
          <a:xfrm>
            <a:off x="6107373" y="2197293"/>
            <a:ext cx="2743200" cy="328911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7" name="Текстово поле 16"/>
          <p:cNvSpPr txBox="1"/>
          <p:nvPr/>
        </p:nvSpPr>
        <p:spPr>
          <a:xfrm flipH="1">
            <a:off x="6728346" y="2347419"/>
            <a:ext cx="1501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Schema </a:t>
            </a:r>
            <a:endParaRPr lang="bg-BG" sz="3200" dirty="0"/>
          </a:p>
        </p:txBody>
      </p:sp>
      <p:sp>
        <p:nvSpPr>
          <p:cNvPr id="18" name="Правоъгълник 17"/>
          <p:cNvSpPr/>
          <p:nvPr/>
        </p:nvSpPr>
        <p:spPr>
          <a:xfrm>
            <a:off x="6434919" y="3289114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Текстово поле 18"/>
          <p:cNvSpPr txBox="1"/>
          <p:nvPr/>
        </p:nvSpPr>
        <p:spPr>
          <a:xfrm>
            <a:off x="6550925" y="3469525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20" name="Правоъгълник 19"/>
          <p:cNvSpPr/>
          <p:nvPr/>
        </p:nvSpPr>
        <p:spPr>
          <a:xfrm>
            <a:off x="7622274" y="3278457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Текстово поле 20"/>
          <p:cNvSpPr txBox="1"/>
          <p:nvPr/>
        </p:nvSpPr>
        <p:spPr>
          <a:xfrm>
            <a:off x="7738280" y="3458868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22" name="Правоъгълник 21"/>
          <p:cNvSpPr/>
          <p:nvPr/>
        </p:nvSpPr>
        <p:spPr>
          <a:xfrm>
            <a:off x="6414447" y="4376189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Текстово поле 22"/>
          <p:cNvSpPr txBox="1"/>
          <p:nvPr/>
        </p:nvSpPr>
        <p:spPr>
          <a:xfrm>
            <a:off x="6530453" y="4556600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24" name="Правоъгълник 23"/>
          <p:cNvSpPr/>
          <p:nvPr/>
        </p:nvSpPr>
        <p:spPr>
          <a:xfrm>
            <a:off x="7601802" y="4341228"/>
            <a:ext cx="914400" cy="7301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Текстово поле 24"/>
          <p:cNvSpPr txBox="1"/>
          <p:nvPr/>
        </p:nvSpPr>
        <p:spPr>
          <a:xfrm>
            <a:off x="7717808" y="4521639"/>
            <a:ext cx="81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</a:t>
            </a:r>
            <a:endParaRPr lang="bg-BG" dirty="0"/>
          </a:p>
        </p:txBody>
      </p:sp>
      <p:sp>
        <p:nvSpPr>
          <p:cNvPr id="26" name="Текстово поле 25"/>
          <p:cNvSpPr txBox="1"/>
          <p:nvPr/>
        </p:nvSpPr>
        <p:spPr>
          <a:xfrm>
            <a:off x="4711888" y="1210527"/>
            <a:ext cx="2395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Database</a:t>
            </a: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116168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/>
          <p:cNvSpPr txBox="1"/>
          <p:nvPr/>
        </p:nvSpPr>
        <p:spPr>
          <a:xfrm>
            <a:off x="7061574" y="590458"/>
            <a:ext cx="2395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Database</a:t>
            </a:r>
            <a:endParaRPr lang="bg-BG" sz="4000" dirty="0"/>
          </a:p>
        </p:txBody>
      </p:sp>
      <p:sp>
        <p:nvSpPr>
          <p:cNvPr id="6" name="Закръглен правоъгълник 5"/>
          <p:cNvSpPr/>
          <p:nvPr/>
        </p:nvSpPr>
        <p:spPr>
          <a:xfrm>
            <a:off x="6935334" y="590458"/>
            <a:ext cx="2402006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Текстово поле 8"/>
          <p:cNvSpPr txBox="1"/>
          <p:nvPr/>
        </p:nvSpPr>
        <p:spPr>
          <a:xfrm>
            <a:off x="4575401" y="2053042"/>
            <a:ext cx="2395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Schema 1</a:t>
            </a:r>
            <a:endParaRPr lang="bg-BG" sz="4000" dirty="0"/>
          </a:p>
        </p:txBody>
      </p:sp>
      <p:sp>
        <p:nvSpPr>
          <p:cNvPr id="10" name="Закръглен правоъгълник 9"/>
          <p:cNvSpPr/>
          <p:nvPr/>
        </p:nvSpPr>
        <p:spPr>
          <a:xfrm>
            <a:off x="4449161" y="2053042"/>
            <a:ext cx="2402006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Текстово поле 10"/>
          <p:cNvSpPr txBox="1"/>
          <p:nvPr/>
        </p:nvSpPr>
        <p:spPr>
          <a:xfrm>
            <a:off x="9796816" y="2175872"/>
            <a:ext cx="2395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Schema 2</a:t>
            </a:r>
            <a:endParaRPr lang="bg-BG" sz="4000" dirty="0"/>
          </a:p>
        </p:txBody>
      </p:sp>
      <p:sp>
        <p:nvSpPr>
          <p:cNvPr id="12" name="Закръглен правоъгълник 11"/>
          <p:cNvSpPr/>
          <p:nvPr/>
        </p:nvSpPr>
        <p:spPr>
          <a:xfrm>
            <a:off x="9670576" y="2175872"/>
            <a:ext cx="2402006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Текстово поле 12"/>
          <p:cNvSpPr txBox="1"/>
          <p:nvPr/>
        </p:nvSpPr>
        <p:spPr>
          <a:xfrm>
            <a:off x="3210061" y="370120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Table 1</a:t>
            </a:r>
            <a:endParaRPr lang="bg-BG" sz="4000" dirty="0"/>
          </a:p>
        </p:txBody>
      </p:sp>
      <p:sp>
        <p:nvSpPr>
          <p:cNvPr id="14" name="Закръглен правоъгълник 13"/>
          <p:cNvSpPr/>
          <p:nvPr/>
        </p:nvSpPr>
        <p:spPr>
          <a:xfrm>
            <a:off x="3083821" y="3701200"/>
            <a:ext cx="1955040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5" name="Закръглен правоъгълник 14"/>
          <p:cNvSpPr/>
          <p:nvPr/>
        </p:nvSpPr>
        <p:spPr>
          <a:xfrm>
            <a:off x="7382300" y="3701200"/>
            <a:ext cx="1955040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Текстово поле 15"/>
          <p:cNvSpPr txBox="1"/>
          <p:nvPr/>
        </p:nvSpPr>
        <p:spPr>
          <a:xfrm>
            <a:off x="7508540" y="370120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Table 2</a:t>
            </a:r>
            <a:endParaRPr lang="bg-BG" sz="4000" dirty="0"/>
          </a:p>
        </p:txBody>
      </p:sp>
      <p:sp>
        <p:nvSpPr>
          <p:cNvPr id="17" name="Текстово поле 16"/>
          <p:cNvSpPr txBox="1"/>
          <p:nvPr/>
        </p:nvSpPr>
        <p:spPr>
          <a:xfrm>
            <a:off x="1514895" y="5226528"/>
            <a:ext cx="2068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Column 1</a:t>
            </a:r>
            <a:endParaRPr lang="bg-BG" sz="4000" dirty="0"/>
          </a:p>
        </p:txBody>
      </p:sp>
      <p:sp>
        <p:nvSpPr>
          <p:cNvPr id="18" name="Закръглен правоъгълник 17"/>
          <p:cNvSpPr/>
          <p:nvPr/>
        </p:nvSpPr>
        <p:spPr>
          <a:xfrm>
            <a:off x="1388655" y="5226528"/>
            <a:ext cx="2195018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9" name="Текстово поле 18"/>
          <p:cNvSpPr txBox="1"/>
          <p:nvPr/>
        </p:nvSpPr>
        <p:spPr>
          <a:xfrm>
            <a:off x="4061341" y="5226528"/>
            <a:ext cx="2068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Column 2</a:t>
            </a:r>
            <a:endParaRPr lang="bg-BG" sz="4000" dirty="0"/>
          </a:p>
        </p:txBody>
      </p:sp>
      <p:sp>
        <p:nvSpPr>
          <p:cNvPr id="20" name="Закръглен правоъгълник 19"/>
          <p:cNvSpPr/>
          <p:nvPr/>
        </p:nvSpPr>
        <p:spPr>
          <a:xfrm>
            <a:off x="3935101" y="5226528"/>
            <a:ext cx="2195018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Текстово поле 20"/>
          <p:cNvSpPr txBox="1"/>
          <p:nvPr/>
        </p:nvSpPr>
        <p:spPr>
          <a:xfrm>
            <a:off x="6716966" y="5226528"/>
            <a:ext cx="2068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Column 1</a:t>
            </a:r>
            <a:endParaRPr lang="bg-BG" sz="4000" dirty="0"/>
          </a:p>
        </p:txBody>
      </p:sp>
      <p:sp>
        <p:nvSpPr>
          <p:cNvPr id="22" name="Закръглен правоъгълник 21"/>
          <p:cNvSpPr/>
          <p:nvPr/>
        </p:nvSpPr>
        <p:spPr>
          <a:xfrm>
            <a:off x="6590726" y="5226528"/>
            <a:ext cx="2195018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Текстово поле 22"/>
          <p:cNvSpPr txBox="1"/>
          <p:nvPr/>
        </p:nvSpPr>
        <p:spPr>
          <a:xfrm>
            <a:off x="9263412" y="5226528"/>
            <a:ext cx="2068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Column 2</a:t>
            </a:r>
            <a:endParaRPr lang="bg-BG" sz="4000" dirty="0"/>
          </a:p>
        </p:txBody>
      </p:sp>
      <p:sp>
        <p:nvSpPr>
          <p:cNvPr id="24" name="Закръглен правоъгълник 23"/>
          <p:cNvSpPr/>
          <p:nvPr/>
        </p:nvSpPr>
        <p:spPr>
          <a:xfrm>
            <a:off x="9137172" y="5226528"/>
            <a:ext cx="2195018" cy="7078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5" name="Съединител &quot;права стрелка&quot; 24"/>
          <p:cNvCxnSpPr/>
          <p:nvPr/>
        </p:nvCxnSpPr>
        <p:spPr>
          <a:xfrm flipH="1">
            <a:off x="5772995" y="1297778"/>
            <a:ext cx="1915240" cy="693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ъединител &quot;права стрелка&quot; 27"/>
          <p:cNvCxnSpPr>
            <a:stCxn id="9" idx="2"/>
          </p:cNvCxnSpPr>
          <p:nvPr/>
        </p:nvCxnSpPr>
        <p:spPr>
          <a:xfrm flipH="1">
            <a:off x="3894724" y="2760928"/>
            <a:ext cx="1878269" cy="912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Съединител &quot;права стрелка&quot; 31"/>
          <p:cNvCxnSpPr/>
          <p:nvPr/>
        </p:nvCxnSpPr>
        <p:spPr>
          <a:xfrm flipH="1">
            <a:off x="2363329" y="4491351"/>
            <a:ext cx="1571772" cy="6936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ъединител &quot;права стрелка&quot; 33"/>
          <p:cNvCxnSpPr/>
          <p:nvPr/>
        </p:nvCxnSpPr>
        <p:spPr>
          <a:xfrm flipH="1">
            <a:off x="7506265" y="4436382"/>
            <a:ext cx="853555" cy="7484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ъединител &quot;права стрелка&quot; 37"/>
          <p:cNvCxnSpPr/>
          <p:nvPr/>
        </p:nvCxnSpPr>
        <p:spPr>
          <a:xfrm>
            <a:off x="8652681" y="1352370"/>
            <a:ext cx="2382671" cy="7685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Съединител &quot;права стрелка&quot; 40"/>
          <p:cNvCxnSpPr/>
          <p:nvPr/>
        </p:nvCxnSpPr>
        <p:spPr>
          <a:xfrm>
            <a:off x="6376334" y="2808873"/>
            <a:ext cx="1983486" cy="822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ъединител &quot;права стрелка&quot; 42"/>
          <p:cNvCxnSpPr/>
          <p:nvPr/>
        </p:nvCxnSpPr>
        <p:spPr>
          <a:xfrm>
            <a:off x="4146633" y="4491351"/>
            <a:ext cx="1276636" cy="693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ъединител &quot;права стрелка&quot; 44"/>
          <p:cNvCxnSpPr/>
          <p:nvPr/>
        </p:nvCxnSpPr>
        <p:spPr>
          <a:xfrm>
            <a:off x="8818440" y="4478849"/>
            <a:ext cx="1276636" cy="6934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Контейнер за съдържание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7680372"/>
              </p:ext>
            </p:extLst>
          </p:nvPr>
        </p:nvGraphicFramePr>
        <p:xfrm>
          <a:off x="3271417" y="1988380"/>
          <a:ext cx="8005680" cy="15096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01420"/>
                <a:gridCol w="2001420"/>
                <a:gridCol w="2001420"/>
                <a:gridCol w="2001420"/>
              </a:tblGrid>
              <a:tr h="3774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Adress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Tel</a:t>
                      </a:r>
                      <a:endParaRPr lang="bg-BG" dirty="0"/>
                    </a:p>
                  </a:txBody>
                  <a:tcPr/>
                </a:tc>
              </a:tr>
              <a:tr h="3774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</a:tr>
              <a:tr h="37741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</a:tr>
              <a:tr h="37741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…………………..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Правоъгълник 3"/>
          <p:cNvSpPr/>
          <p:nvPr/>
        </p:nvSpPr>
        <p:spPr>
          <a:xfrm>
            <a:off x="7274257" y="1678675"/>
            <a:ext cx="1992573" cy="21154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6864831" y="731180"/>
            <a:ext cx="2593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Attribute / Field</a:t>
            </a:r>
            <a:endParaRPr lang="bg-BG" sz="2800" dirty="0"/>
          </a:p>
        </p:txBody>
      </p:sp>
      <p:sp>
        <p:nvSpPr>
          <p:cNvPr id="7" name="Правоъгълник 6"/>
          <p:cNvSpPr/>
          <p:nvPr/>
        </p:nvSpPr>
        <p:spPr>
          <a:xfrm>
            <a:off x="3029803" y="2736376"/>
            <a:ext cx="8379725" cy="36166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Текстово поле 7"/>
          <p:cNvSpPr txBox="1"/>
          <p:nvPr/>
        </p:nvSpPr>
        <p:spPr>
          <a:xfrm>
            <a:off x="327547" y="2258767"/>
            <a:ext cx="2347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Entity / Record              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 / Tuple</a:t>
            </a:r>
            <a:endParaRPr lang="bg-BG" sz="2800" dirty="0"/>
          </a:p>
        </p:txBody>
      </p:sp>
      <p:sp>
        <p:nvSpPr>
          <p:cNvPr id="10" name="Текстово поле 9"/>
          <p:cNvSpPr txBox="1"/>
          <p:nvPr/>
        </p:nvSpPr>
        <p:spPr>
          <a:xfrm>
            <a:off x="7629096" y="2574822"/>
            <a:ext cx="1282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Value</a:t>
            </a:r>
            <a:endParaRPr lang="bg-BG" sz="2800" dirty="0">
              <a:solidFill>
                <a:srgbClr val="FF0000"/>
              </a:solidFill>
            </a:endParaRPr>
          </a:p>
        </p:txBody>
      </p:sp>
      <p:sp>
        <p:nvSpPr>
          <p:cNvPr id="9" name="Закръглен правоъгълник 8"/>
          <p:cNvSpPr/>
          <p:nvPr/>
        </p:nvSpPr>
        <p:spPr>
          <a:xfrm>
            <a:off x="259305" y="2292824"/>
            <a:ext cx="2374709" cy="88599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5" name="Съединител &quot;права стрелка&quot; 14"/>
          <p:cNvCxnSpPr/>
          <p:nvPr/>
        </p:nvCxnSpPr>
        <p:spPr>
          <a:xfrm flipV="1">
            <a:off x="2634013" y="2917209"/>
            <a:ext cx="641450" cy="11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Закръглен правоъгълник 18"/>
          <p:cNvSpPr/>
          <p:nvPr/>
        </p:nvSpPr>
        <p:spPr>
          <a:xfrm>
            <a:off x="6851180" y="731180"/>
            <a:ext cx="2674961" cy="52322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21" name="Съединител &quot;права стрелка&quot; 20"/>
          <p:cNvCxnSpPr/>
          <p:nvPr/>
        </p:nvCxnSpPr>
        <p:spPr>
          <a:xfrm>
            <a:off x="8175004" y="1265064"/>
            <a:ext cx="13648" cy="6585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авоъгълник 24"/>
          <p:cNvSpPr/>
          <p:nvPr/>
        </p:nvSpPr>
        <p:spPr>
          <a:xfrm>
            <a:off x="1819698" y="3937226"/>
            <a:ext cx="98081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800" dirty="0"/>
              <a:t>В БД има някои различия в наименованията:</a:t>
            </a:r>
          </a:p>
          <a:p>
            <a:r>
              <a:rPr lang="bg-BG" sz="2800" dirty="0"/>
              <a:t>Таблица = </a:t>
            </a:r>
            <a:r>
              <a:rPr lang="bg-BG" sz="2800" dirty="0" smtClean="0"/>
              <a:t>релация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tx2">
                    <a:lumMod val="90000"/>
                  </a:schemeClr>
                </a:solidFill>
              </a:rPr>
              <a:t>(</a:t>
            </a:r>
            <a:r>
              <a:rPr lang="en-US" sz="2800" dirty="0" smtClean="0">
                <a:solidFill>
                  <a:srgbClr val="FF0000"/>
                </a:solidFill>
              </a:rPr>
              <a:t>Relation</a:t>
            </a:r>
            <a:r>
              <a:rPr lang="en-US" sz="2800" dirty="0" smtClean="0">
                <a:solidFill>
                  <a:schemeClr val="tx2">
                    <a:lumMod val="90000"/>
                  </a:schemeClr>
                </a:solidFill>
              </a:rPr>
              <a:t> / Entity set) </a:t>
            </a:r>
            <a:endParaRPr lang="bg-BG" sz="2800" dirty="0"/>
          </a:p>
          <a:p>
            <a:r>
              <a:rPr lang="bg-BG" sz="2800" dirty="0"/>
              <a:t>Колона = </a:t>
            </a:r>
            <a:r>
              <a:rPr lang="bg-BG" sz="2800" dirty="0" smtClean="0"/>
              <a:t>атрибут / поле </a:t>
            </a:r>
            <a:r>
              <a:rPr lang="bg-BG" sz="2800" dirty="0" smtClean="0">
                <a:solidFill>
                  <a:schemeClr val="tx2">
                    <a:lumMod val="90000"/>
                  </a:schemeClr>
                </a:solidFill>
              </a:rPr>
              <a:t>(</a:t>
            </a:r>
            <a:r>
              <a:rPr lang="en-US" sz="2800" dirty="0" smtClean="0">
                <a:solidFill>
                  <a:schemeClr val="tx2">
                    <a:lumMod val="90000"/>
                  </a:schemeClr>
                </a:solidFill>
              </a:rPr>
              <a:t>Attribute / Field)</a:t>
            </a:r>
            <a:endParaRPr lang="bg-BG" sz="2800" dirty="0">
              <a:solidFill>
                <a:schemeClr val="tx2">
                  <a:lumMod val="90000"/>
                </a:schemeClr>
              </a:solidFill>
            </a:endParaRPr>
          </a:p>
          <a:p>
            <a:r>
              <a:rPr lang="bg-BG" sz="2800" dirty="0"/>
              <a:t>Ред = </a:t>
            </a:r>
            <a:r>
              <a:rPr lang="bg-BG" sz="2800" dirty="0" smtClean="0"/>
              <a:t>запис</a:t>
            </a:r>
            <a:r>
              <a:rPr lang="en-US" sz="2800" dirty="0" smtClean="0"/>
              <a:t>, </a:t>
            </a:r>
            <a:r>
              <a:rPr lang="bg-BG" sz="2800" dirty="0" smtClean="0"/>
              <a:t>кортеж </a:t>
            </a:r>
            <a:r>
              <a:rPr lang="en-US" sz="2800" dirty="0" smtClean="0">
                <a:solidFill>
                  <a:schemeClr val="tx2">
                    <a:lumMod val="90000"/>
                  </a:schemeClr>
                </a:solidFill>
              </a:rPr>
              <a:t>(Entity / Record / Tuple)</a:t>
            </a:r>
          </a:p>
          <a:p>
            <a:r>
              <a:rPr lang="bg-BG" sz="2800" dirty="0" smtClean="0"/>
              <a:t>Връзка = </a:t>
            </a:r>
            <a:r>
              <a:rPr lang="en-US" sz="2800" dirty="0" smtClean="0">
                <a:solidFill>
                  <a:srgbClr val="FF0000"/>
                </a:solidFill>
              </a:rPr>
              <a:t>Relationship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bg-BG" sz="2800" dirty="0" smtClean="0"/>
              <a:t>Като дублетна форма за връзка се използва релация</a:t>
            </a:r>
            <a:endParaRPr lang="bg-BG" sz="2800" dirty="0"/>
          </a:p>
        </p:txBody>
      </p:sp>
      <p:sp>
        <p:nvSpPr>
          <p:cNvPr id="27" name="Текстово поле 26"/>
          <p:cNvSpPr txBox="1"/>
          <p:nvPr/>
        </p:nvSpPr>
        <p:spPr>
          <a:xfrm>
            <a:off x="1501253" y="585160"/>
            <a:ext cx="4308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Relation / Entity set</a:t>
            </a:r>
            <a:endParaRPr lang="bg-BG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54231" y="263676"/>
            <a:ext cx="9905998" cy="1478570"/>
          </a:xfrm>
        </p:spPr>
        <p:txBody>
          <a:bodyPr/>
          <a:lstStyle/>
          <a:p>
            <a:r>
              <a:rPr lang="bg-BG" dirty="0" smtClean="0"/>
              <a:t>Видове Връзки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923046" y="1840053"/>
            <a:ext cx="10568367" cy="4042131"/>
          </a:xfrm>
        </p:spPr>
        <p:txBody>
          <a:bodyPr>
            <a:normAutofit fontScale="77500" lnSpcReduction="20000"/>
          </a:bodyPr>
          <a:lstStyle/>
          <a:p>
            <a:r>
              <a:rPr lang="bg-BG" b="1" dirty="0" smtClean="0">
                <a:solidFill>
                  <a:schemeClr val="tx2">
                    <a:lumMod val="10000"/>
                  </a:schemeClr>
                </a:solidFill>
              </a:rPr>
              <a:t>1: 1 </a:t>
            </a:r>
            <a:r>
              <a:rPr lang="bg-BG" dirty="0" smtClean="0"/>
              <a:t>– най-рядко срещана. На 1 запис от таблица А, съответства точно 1 от таблица </a:t>
            </a:r>
            <a:r>
              <a:rPr lang="en-US" dirty="0" smtClean="0"/>
              <a:t>B. </a:t>
            </a:r>
            <a:r>
              <a:rPr lang="bg-BG" dirty="0" smtClean="0"/>
              <a:t>За да гарантираме </a:t>
            </a:r>
            <a:r>
              <a:rPr lang="bg-BG" dirty="0" err="1" smtClean="0"/>
              <a:t>неповторяемост</a:t>
            </a:r>
            <a:r>
              <a:rPr lang="bg-BG" dirty="0" smtClean="0"/>
              <a:t>, отбелязваме </a:t>
            </a:r>
            <a:r>
              <a:rPr lang="en-US" dirty="0" err="1" smtClean="0"/>
              <a:t>UniQue</a:t>
            </a:r>
            <a:r>
              <a:rPr lang="en-US" dirty="0" smtClean="0"/>
              <a:t>.</a:t>
            </a:r>
            <a:r>
              <a:rPr lang="bg-BG" dirty="0" smtClean="0"/>
              <a:t>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chemeClr val="tx2">
                    <a:lumMod val="10000"/>
                  </a:schemeClr>
                </a:solidFill>
              </a:rPr>
              <a:t>1: n </a:t>
            </a:r>
            <a:r>
              <a:rPr lang="en-US" dirty="0" smtClean="0"/>
              <a:t>– </a:t>
            </a:r>
            <a:r>
              <a:rPr lang="bg-BG" dirty="0" smtClean="0"/>
              <a:t>или 1:много – най-често. На 1 запис от таблица </a:t>
            </a:r>
            <a:r>
              <a:rPr lang="en-US" dirty="0" smtClean="0"/>
              <a:t>A </a:t>
            </a:r>
            <a:r>
              <a:rPr lang="bg-BG" dirty="0" smtClean="0"/>
              <a:t>съответстват много от таблица </a:t>
            </a:r>
            <a:r>
              <a:rPr lang="en-US" dirty="0" smtClean="0"/>
              <a:t>B. </a:t>
            </a:r>
            <a:r>
              <a:rPr lang="bg-BG" dirty="0" smtClean="0"/>
              <a:t>Таблица </a:t>
            </a:r>
            <a:r>
              <a:rPr lang="en-US" dirty="0" smtClean="0"/>
              <a:t>A </a:t>
            </a:r>
            <a:r>
              <a:rPr lang="bg-BG" dirty="0" smtClean="0"/>
              <a:t>обикновено съдържа първичния ключ (</a:t>
            </a:r>
            <a:r>
              <a:rPr lang="en-US" dirty="0" smtClean="0"/>
              <a:t>Primary Key). </a:t>
            </a:r>
            <a:r>
              <a:rPr lang="bg-BG" dirty="0" smtClean="0"/>
              <a:t>За да осъществим такава връзка, маркираме първо таблицата, която отговаря за МНОГО и указваме в нейното поле за външен ключ (</a:t>
            </a:r>
            <a:r>
              <a:rPr lang="en-US" dirty="0" smtClean="0"/>
              <a:t>Foreign key)</a:t>
            </a:r>
            <a:r>
              <a:rPr lang="bg-BG" dirty="0" smtClean="0"/>
              <a:t>.</a:t>
            </a:r>
          </a:p>
          <a:p>
            <a:endParaRPr lang="bg-BG" dirty="0" smtClean="0"/>
          </a:p>
          <a:p>
            <a:r>
              <a:rPr lang="en-US" b="1" dirty="0" smtClean="0">
                <a:solidFill>
                  <a:schemeClr val="tx2">
                    <a:lumMod val="10000"/>
                  </a:schemeClr>
                </a:solidFill>
              </a:rPr>
              <a:t>n : n</a:t>
            </a:r>
            <a:r>
              <a:rPr lang="en-US" b="1" dirty="0" smtClean="0"/>
              <a:t> </a:t>
            </a:r>
            <a:r>
              <a:rPr lang="en-US" dirty="0" smtClean="0"/>
              <a:t>– </a:t>
            </a:r>
            <a:r>
              <a:rPr lang="bg-BG" dirty="0" smtClean="0"/>
              <a:t>или много : много – за да се осъществи, се използва трета таблица </a:t>
            </a:r>
            <a:r>
              <a:rPr lang="en-US" dirty="0" smtClean="0"/>
              <a:t>C, </a:t>
            </a:r>
            <a:r>
              <a:rPr lang="bg-BG" dirty="0" smtClean="0"/>
              <a:t>която влиза във връзки 1</a:t>
            </a:r>
            <a:r>
              <a:rPr lang="en-US" dirty="0" smtClean="0"/>
              <a:t>:</a:t>
            </a:r>
            <a:r>
              <a:rPr lang="bg-BG" dirty="0" smtClean="0"/>
              <a:t> </a:t>
            </a:r>
            <a:r>
              <a:rPr lang="en-US" dirty="0" smtClean="0"/>
              <a:t>n </a:t>
            </a:r>
            <a:r>
              <a:rPr lang="bg-BG" dirty="0" smtClean="0"/>
              <a:t>с другите 2 таблици, които държат първичните ключове. Новата таблица </a:t>
            </a:r>
            <a:r>
              <a:rPr lang="en-US" dirty="0" smtClean="0"/>
              <a:t>C </a:t>
            </a:r>
            <a:r>
              <a:rPr lang="bg-BG" dirty="0" smtClean="0"/>
              <a:t>има 2 външни ключа, които заедно образуват сложен съставен първичен ключ, който е уникален. </a:t>
            </a:r>
            <a:endParaRPr lang="bg-BG" dirty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920" y="2242213"/>
            <a:ext cx="3809005" cy="65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2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387073" y="316144"/>
            <a:ext cx="9905998" cy="1478570"/>
          </a:xfrm>
        </p:spPr>
        <p:txBody>
          <a:bodyPr/>
          <a:lstStyle/>
          <a:p>
            <a:r>
              <a:rPr lang="bg-BG" dirty="0" smtClean="0"/>
              <a:t>Пример</a:t>
            </a:r>
            <a:endParaRPr lang="bg-BG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1141412" y="1610436"/>
            <a:ext cx="9905999" cy="4180765"/>
          </a:xfrm>
        </p:spPr>
        <p:txBody>
          <a:bodyPr/>
          <a:lstStyle/>
          <a:p>
            <a:pPr marL="0" indent="0">
              <a:buNone/>
            </a:pPr>
            <a:r>
              <a:rPr lang="bg-BG" dirty="0" smtClean="0"/>
              <a:t>Понеже 1 книга може да има много автори, а 1 автор много книги, правим 3-та таблица, която държи 2 външни ключа.</a:t>
            </a:r>
            <a:endParaRPr lang="bg-BG"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618" y="2966175"/>
            <a:ext cx="8504953" cy="338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1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1050355" y="349708"/>
            <a:ext cx="7142352" cy="10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bg-BG" dirty="0" smtClean="0"/>
              <a:t>Типове данни </a:t>
            </a:r>
            <a:br>
              <a:rPr lang="bg-BG" dirty="0" smtClean="0"/>
            </a:br>
            <a:r>
              <a:rPr lang="bg-BG" sz="2200" dirty="0" smtClean="0"/>
              <a:t>в скобите се </a:t>
            </a:r>
            <a:r>
              <a:rPr lang="bg-BG" sz="2200" dirty="0" err="1" smtClean="0"/>
              <a:t>поствя</a:t>
            </a:r>
            <a:r>
              <a:rPr lang="bg-BG" sz="2200" dirty="0" smtClean="0"/>
              <a:t> максималната стойност</a:t>
            </a:r>
            <a:endParaRPr sz="2200" dirty="0"/>
          </a:p>
        </p:txBody>
      </p:sp>
      <p:sp>
        <p:nvSpPr>
          <p:cNvPr id="154" name="Google Shape;154;p21"/>
          <p:cNvSpPr txBox="1">
            <a:spLocks noGrp="1"/>
          </p:cNvSpPr>
          <p:nvPr>
            <p:ph idx="1"/>
          </p:nvPr>
        </p:nvSpPr>
        <p:spPr>
          <a:xfrm>
            <a:off x="1391550" y="1388205"/>
            <a:ext cx="6578743" cy="54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INT –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целочислен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VARCHAR(45) –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най-често, текст с дължина до 45 символа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DOUBLE –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с плаваща запетая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DECIMAL (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m,p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bg-BG" sz="180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bg-BG" sz="1800">
                <a:latin typeface="Arial" panose="020B0604020202020204" pitchFamily="34" charset="0"/>
                <a:cs typeface="Arial" panose="020B0604020202020204" pitchFamily="34" charset="0"/>
              </a:rPr>
              <a:t>указва общия брой на цифрите и колко са след десетичната запетая, например (6,2) до 9999.99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smtClean="0"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– YYYY-MM-DD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TIME – HH:MM:SS</a:t>
            </a:r>
            <a:endParaRPr lang="bg-BG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1">
              <a:spcBef>
                <a:spcPts val="0"/>
              </a:spcBef>
              <a:buSzPts val="3480"/>
            </a:pPr>
            <a:r>
              <a:rPr lang="en-US" sz="1800" noProof="1">
                <a:latin typeface="Arial" panose="020B0604020202020204" pitchFamily="34" charset="0"/>
                <a:cs typeface="Arial" panose="020B0604020202020204" pitchFamily="34" charset="0"/>
              </a:rPr>
              <a:t>DATETIME default value: 1900-01-01 </a:t>
            </a:r>
            <a:r>
              <a:rPr lang="en-US" sz="1800" noProof="1" smtClean="0">
                <a:latin typeface="Arial" panose="020B0604020202020204" pitchFamily="34" charset="0"/>
                <a:cs typeface="Arial" panose="020B0604020202020204" pitchFamily="34" charset="0"/>
              </a:rPr>
              <a:t>00:00:00</a:t>
            </a:r>
            <a:endParaRPr lang="en-US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YEAR (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) – обикновено 4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BOOLEAN = TINYINT (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0 =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false, 1 = true)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TEXT =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до 21845 символа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CHAR(60) –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за криптираната </a:t>
            </a:r>
            <a:r>
              <a:rPr lang="bg-BG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хеш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стойност на пароли</a:t>
            </a:r>
          </a:p>
          <a:p>
            <a:pPr>
              <a:spcBef>
                <a:spcPts val="0"/>
              </a:spcBef>
              <a:buSzPts val="3480"/>
            </a:pP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BLOB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= (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Binary Large Object) – </a:t>
            </a:r>
            <a:r>
              <a:rPr lang="bg-BG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за файлове, които не се обработват: снимки, музика, други документи.</a:t>
            </a:r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293" y="172287"/>
            <a:ext cx="1581862" cy="6521939"/>
          </a:xfrm>
          <a:prstGeom prst="rect">
            <a:avLst/>
          </a:prstGeom>
        </p:spPr>
      </p:pic>
      <p:pic>
        <p:nvPicPr>
          <p:cNvPr id="3" name="Картина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911" y="172287"/>
            <a:ext cx="1671028" cy="63923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E4AA01D7-9BDE-7A2B-8F9B-2B907AB694C0}"/>
              </a:ext>
            </a:extLst>
          </p:cNvPr>
          <p:cNvSpPr txBox="1">
            <a:spLocks/>
          </p:cNvSpPr>
          <p:nvPr/>
        </p:nvSpPr>
        <p:spPr>
          <a:xfrm>
            <a:off x="1540923" y="625775"/>
            <a:ext cx="7998201" cy="80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dirty="0" smtClean="0">
                <a:latin typeface="Comfortaa" pitchFamily="2" charset="0"/>
              </a:rPr>
              <a:t>Допълнителни атрибути за типовете 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77CA8025-33B2-5A6E-6328-4206E0E0EF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40923" y="1892866"/>
            <a:ext cx="10155208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800" dirty="0" smtClean="0"/>
              <a:t>За числа:</a:t>
            </a:r>
          </a:p>
          <a:p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ZEROFILL </a:t>
            </a:r>
            <a:r>
              <a:rPr lang="ru-RU" dirty="0"/>
              <a:t>е атрибут на </a:t>
            </a:r>
            <a:r>
              <a:rPr lang="ru-RU" dirty="0" err="1"/>
              <a:t>MySQL</a:t>
            </a:r>
            <a:r>
              <a:rPr lang="ru-RU" dirty="0"/>
              <a:t> , </a:t>
            </a:r>
            <a:r>
              <a:rPr lang="ru-RU" dirty="0" err="1"/>
              <a:t>който</a:t>
            </a:r>
            <a:r>
              <a:rPr lang="ru-RU" dirty="0"/>
              <a:t> автоматично </a:t>
            </a:r>
            <a:r>
              <a:rPr lang="ru-RU" dirty="0" err="1"/>
              <a:t>запълва</a:t>
            </a:r>
            <a:r>
              <a:rPr lang="ru-RU" dirty="0"/>
              <a:t> с нули </a:t>
            </a:r>
            <a:r>
              <a:rPr lang="ru-RU" dirty="0" err="1"/>
              <a:t>към</a:t>
            </a:r>
            <a:r>
              <a:rPr lang="ru-RU" dirty="0"/>
              <a:t> </a:t>
            </a:r>
            <a:r>
              <a:rPr lang="ru-RU" dirty="0" err="1"/>
              <a:t>стойността</a:t>
            </a:r>
            <a:r>
              <a:rPr lang="ru-RU" dirty="0"/>
              <a:t> на </a:t>
            </a:r>
            <a:r>
              <a:rPr lang="ru-RU" dirty="0" smtClean="0"/>
              <a:t>число </a:t>
            </a:r>
            <a:r>
              <a:rPr lang="ru-RU" dirty="0" err="1" smtClean="0"/>
              <a:t>според</a:t>
            </a:r>
            <a:r>
              <a:rPr lang="ru-RU" dirty="0" smtClean="0"/>
              <a:t> </a:t>
            </a:r>
            <a:r>
              <a:rPr lang="ru-RU" dirty="0" err="1"/>
              <a:t>ширината</a:t>
            </a:r>
            <a:r>
              <a:rPr lang="ru-RU" dirty="0"/>
              <a:t> на дисплея.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UNSIGNED –  </a:t>
            </a:r>
            <a:r>
              <a:rPr lang="ru-RU" dirty="0" err="1"/>
              <a:t>модул</a:t>
            </a:r>
            <a:r>
              <a:rPr lang="ru-RU" dirty="0"/>
              <a:t> = абсолютна </a:t>
            </a:r>
            <a:r>
              <a:rPr lang="ru-RU" dirty="0" err="1"/>
              <a:t>стойност</a:t>
            </a:r>
            <a:r>
              <a:rPr lang="ru-RU" dirty="0"/>
              <a:t> на число, само </a:t>
            </a:r>
            <a:r>
              <a:rPr lang="ru-RU" dirty="0" smtClean="0"/>
              <a:t>(+)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noProof="1"/>
          </a:p>
          <a:p>
            <a:r>
              <a:rPr lang="bg-BG" sz="2800" noProof="1" smtClean="0"/>
              <a:t>За символи: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bg-BG" altLang="bg-BG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bg-BG" altLang="bg-BG" dirty="0" smtClean="0"/>
              <a:t> CHARACTER SET: как да се кодират - ако се изпише utf8</a:t>
            </a:r>
            <a:r>
              <a:rPr lang="bg-BG" altLang="bg-BG" dirty="0"/>
              <a:t>, </a:t>
            </a:r>
            <a:r>
              <a:rPr lang="bg-BG" altLang="bg-BG" dirty="0" smtClean="0"/>
              <a:t>ще работи с кирилица.</a:t>
            </a:r>
            <a:endParaRPr lang="bg-BG" altLang="bg-BG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bg-BG" altLang="bg-BG" dirty="0" smtClean="0"/>
              <a:t> COLLATE: как </a:t>
            </a:r>
            <a:r>
              <a:rPr lang="bg-BG" altLang="bg-BG" dirty="0"/>
              <a:t>да се сравняват и сортират </a:t>
            </a:r>
            <a:r>
              <a:rPr lang="bg-BG" altLang="bg-BG" dirty="0" smtClean="0"/>
              <a:t>символите - utf8_general_ci </a:t>
            </a:r>
            <a:r>
              <a:rPr lang="bg-BG" altLang="bg-BG" dirty="0"/>
              <a:t>означава нечувствителност към главни и малки букви при сравнение (</a:t>
            </a:r>
            <a:r>
              <a:rPr lang="bg-BG" altLang="bg-BG" dirty="0" err="1"/>
              <a:t>case</a:t>
            </a:r>
            <a:r>
              <a:rPr lang="bg-BG" altLang="bg-BG" dirty="0"/>
              <a:t> </a:t>
            </a:r>
            <a:r>
              <a:rPr lang="bg-BG" altLang="bg-BG" dirty="0" err="1"/>
              <a:t>insensitive</a:t>
            </a:r>
            <a:r>
              <a:rPr lang="bg-BG" altLang="bg-BG" dirty="0" smtClean="0"/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bg-BG" altLang="bg-BG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bg-BG" altLang="bg-BG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Ако е оставена празна стойност, автоматично се присвоява </a:t>
            </a:r>
            <a:r>
              <a:rPr lang="en-US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n-US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nil, none.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bg-BG" altLang="bg-BG" dirty="0"/>
          </a:p>
        </p:txBody>
      </p:sp>
    </p:spTree>
    <p:extLst>
      <p:ext uri="{BB962C8B-B14F-4D97-AF65-F5344CB8AC3E}">
        <p14:creationId xmlns:p14="http://schemas.microsoft.com/office/powerpoint/2010/main" val="1280628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="" xmlns:a16="http://schemas.microsoft.com/office/drawing/2014/main" id="{E4AA01D7-9BDE-7A2B-8F9B-2B907AB694C0}"/>
              </a:ext>
            </a:extLst>
          </p:cNvPr>
          <p:cNvSpPr txBox="1">
            <a:spLocks/>
          </p:cNvSpPr>
          <p:nvPr/>
        </p:nvSpPr>
        <p:spPr>
          <a:xfrm>
            <a:off x="1540923" y="625775"/>
            <a:ext cx="7998201" cy="803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Comfortaa" pitchFamily="2" charset="0"/>
              </a:rPr>
              <a:t>Entity-Relationship Diagram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77CA8025-33B2-5A6E-6328-4206E0E0EF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31490" y="1657877"/>
            <a:ext cx="507760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bg-BG" sz="2800" dirty="0" smtClean="0"/>
              <a:t>Много по-бързо и нагледно може да се проектира БД директно върху </a:t>
            </a:r>
            <a:r>
              <a:rPr lang="en-US" sz="2800" dirty="0" smtClean="0"/>
              <a:t>ER-</a:t>
            </a:r>
            <a:r>
              <a:rPr lang="bg-BG" sz="2800" dirty="0" smtClean="0"/>
              <a:t>диаграмата. Има възможност за създаване на нова таблица и после с клик върху нея се задават типовете данни и ключовете. Проблемът е, че няма възможност за </a:t>
            </a:r>
            <a:r>
              <a:rPr lang="en-US" sz="2800" dirty="0" smtClean="0"/>
              <a:t>Apply </a:t>
            </a:r>
            <a:r>
              <a:rPr lang="bg-BG" sz="2800" dirty="0" smtClean="0"/>
              <a:t>и промените не се отразяват в БД. Няма и възможност за попълване на стойности. </a:t>
            </a:r>
            <a:endParaRPr lang="bg-BG" altLang="bg-BG" dirty="0"/>
          </a:p>
        </p:txBody>
      </p:sp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094" y="1657877"/>
            <a:ext cx="5205768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9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="" xmlns:a16="http://schemas.microsoft.com/office/drawing/2014/main" id="{77CA8025-33B2-5A6E-6328-4206E0E0EF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2516" y="5617038"/>
            <a:ext cx="105509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altLang="bg-BG" sz="2800" dirty="0" smtClean="0"/>
              <a:t>Имената на таблиците винаги са в множествено число, </a:t>
            </a:r>
          </a:p>
          <a:p>
            <a:pPr algn="ctr"/>
            <a:r>
              <a:rPr lang="bg-BG" altLang="bg-BG" sz="2800" dirty="0" smtClean="0"/>
              <a:t>а на атрибутите в единствено!!!</a:t>
            </a:r>
          </a:p>
          <a:p>
            <a:endParaRPr lang="bg-BG" altLang="bg-BG" sz="2800" dirty="0" smtClean="0"/>
          </a:p>
        </p:txBody>
      </p:sp>
      <p:pic>
        <p:nvPicPr>
          <p:cNvPr id="5" name="Картина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17" y="290871"/>
            <a:ext cx="70675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26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856" y="150126"/>
            <a:ext cx="8802805" cy="56823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77CA8025-33B2-5A6E-6328-4206E0E0EF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2516" y="5832482"/>
            <a:ext cx="105509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altLang="bg-BG" sz="2800" dirty="0" smtClean="0"/>
              <a:t>Когато диаграмата е правилна, се пристъпва към реализиране </a:t>
            </a:r>
          </a:p>
          <a:p>
            <a:pPr algn="ctr"/>
            <a:r>
              <a:rPr lang="bg-BG" altLang="bg-BG" sz="2800" dirty="0" smtClean="0"/>
              <a:t>на БД с </a:t>
            </a:r>
            <a:r>
              <a:rPr lang="en-US" altLang="bg-BG" sz="2800" dirty="0" smtClean="0"/>
              <a:t>SQL. </a:t>
            </a:r>
            <a:r>
              <a:rPr lang="bg-BG" altLang="bg-BG" sz="2800" dirty="0" smtClean="0"/>
              <a:t>Така се спестява много време.</a:t>
            </a:r>
          </a:p>
        </p:txBody>
      </p:sp>
    </p:spTree>
    <p:extLst>
      <p:ext uri="{BB962C8B-B14F-4D97-AF65-F5344CB8AC3E}">
        <p14:creationId xmlns:p14="http://schemas.microsoft.com/office/powerpoint/2010/main" val="3091968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Картина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348785"/>
            <a:ext cx="7246962" cy="499563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="" xmlns:a16="http://schemas.microsoft.com/office/drawing/2014/main" id="{77CA8025-33B2-5A6E-6328-4206E0E0EF1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16289" y="5559526"/>
            <a:ext cx="105509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bg-BG" altLang="bg-BG" sz="2800" dirty="0" smtClean="0"/>
              <a:t>Създаване на БД с 2 таблици и връзка между тях с </a:t>
            </a:r>
            <a:r>
              <a:rPr lang="en-US" altLang="bg-BG" sz="2800" dirty="0" smtClean="0"/>
              <a:t>SQL. </a:t>
            </a:r>
            <a:endParaRPr lang="bg-BG" altLang="bg-BG" sz="2800" dirty="0" smtClean="0"/>
          </a:p>
          <a:p>
            <a:pPr algn="ctr"/>
            <a:r>
              <a:rPr lang="bg-BG" altLang="bg-BG" sz="2800" dirty="0" smtClean="0"/>
              <a:t>Така се спестява много време.</a:t>
            </a:r>
          </a:p>
        </p:txBody>
      </p:sp>
    </p:spTree>
    <p:extLst>
      <p:ext uri="{BB962C8B-B14F-4D97-AF65-F5344CB8AC3E}">
        <p14:creationId xmlns:p14="http://schemas.microsoft.com/office/powerpoint/2010/main" val="1407620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768</TotalTime>
  <Words>613</Words>
  <Application>Microsoft Office PowerPoint</Application>
  <PresentationFormat>Широк екран</PresentationFormat>
  <Paragraphs>91</Paragraphs>
  <Slides>12</Slides>
  <Notes>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8" baseType="lpstr">
      <vt:lpstr>Trebuchet MS</vt:lpstr>
      <vt:lpstr>Comfortaa</vt:lpstr>
      <vt:lpstr>Tw Cen MT</vt:lpstr>
      <vt:lpstr>Corbel</vt:lpstr>
      <vt:lpstr>Arial</vt:lpstr>
      <vt:lpstr>Circuit</vt:lpstr>
      <vt:lpstr>ТИПОВЕ ДАННИ. полета.</vt:lpstr>
      <vt:lpstr>Презентация на PowerPoint</vt:lpstr>
      <vt:lpstr>Презентация на PowerPoint</vt:lpstr>
      <vt:lpstr>Презентация на PowerPoint</vt:lpstr>
      <vt:lpstr>Видове Връзки</vt:lpstr>
      <vt:lpstr>Пример</vt:lpstr>
      <vt:lpstr>Типове данни  в скобите се поствя максималната стойност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ТИПОВЕ ДАННИ. КЛЮЧОВЕ.</dc:title>
  <cp:lastModifiedBy>Николета</cp:lastModifiedBy>
  <cp:revision>42</cp:revision>
  <dcterms:modified xsi:type="dcterms:W3CDTF">2024-10-10T05:20:43Z</dcterms:modified>
</cp:coreProperties>
</file>