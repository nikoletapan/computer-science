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 smtClean="0"/>
              <a:t>Щракнете за редакция стил подзагл. обр.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69C5-75B0-4EB1-9A73-9BDD4D77BB71}" type="datetimeFigureOut">
              <a:rPr lang="bg-BG" smtClean="0"/>
              <a:t>20.10.2024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F29E-C814-4434-9262-4800545CB8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9156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69C5-75B0-4EB1-9A73-9BDD4D77BB71}" type="datetimeFigureOut">
              <a:rPr lang="bg-BG" smtClean="0"/>
              <a:t>20.10.2024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F29E-C814-4434-9262-4800545CB8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22521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69C5-75B0-4EB1-9A73-9BDD4D77BB71}" type="datetimeFigureOut">
              <a:rPr lang="bg-BG" smtClean="0"/>
              <a:t>20.10.2024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F29E-C814-4434-9262-4800545CB8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1912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69C5-75B0-4EB1-9A73-9BDD4D77BB71}" type="datetimeFigureOut">
              <a:rPr lang="bg-BG" smtClean="0"/>
              <a:t>20.10.2024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F29E-C814-4434-9262-4800545CB8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08691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69C5-75B0-4EB1-9A73-9BDD4D77BB71}" type="datetimeFigureOut">
              <a:rPr lang="bg-BG" smtClean="0"/>
              <a:t>20.10.2024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F29E-C814-4434-9262-4800545CB8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13245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69C5-75B0-4EB1-9A73-9BDD4D77BB71}" type="datetimeFigureOut">
              <a:rPr lang="bg-BG" smtClean="0"/>
              <a:t>20.10.2024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F29E-C814-4434-9262-4800545CB8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1993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69C5-75B0-4EB1-9A73-9BDD4D77BB71}" type="datetimeFigureOut">
              <a:rPr lang="bg-BG" smtClean="0"/>
              <a:t>20.10.2024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F29E-C814-4434-9262-4800545CB8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2290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69C5-75B0-4EB1-9A73-9BDD4D77BB71}" type="datetimeFigureOut">
              <a:rPr lang="bg-BG" smtClean="0"/>
              <a:t>20.10.2024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F29E-C814-4434-9262-4800545CB8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5559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69C5-75B0-4EB1-9A73-9BDD4D77BB71}" type="datetimeFigureOut">
              <a:rPr lang="bg-BG" smtClean="0"/>
              <a:t>20.10.2024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F29E-C814-4434-9262-4800545CB8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40755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69C5-75B0-4EB1-9A73-9BDD4D77BB71}" type="datetimeFigureOut">
              <a:rPr lang="bg-BG" smtClean="0"/>
              <a:t>20.10.2024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F29E-C814-4434-9262-4800545CB8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7931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69C5-75B0-4EB1-9A73-9BDD4D77BB71}" type="datetimeFigureOut">
              <a:rPr lang="bg-BG" smtClean="0"/>
              <a:t>20.10.2024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F29E-C814-4434-9262-4800545CB8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9317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069C5-75B0-4EB1-9A73-9BDD4D77BB71}" type="datetimeFigureOut">
              <a:rPr lang="bg-BG" smtClean="0"/>
              <a:t>20.10.2024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0F29E-C814-4434-9262-4800545CB8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2703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avicon.cc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  <p:sp>
        <p:nvSpPr>
          <p:cNvPr id="6" name="Текстово поле 5"/>
          <p:cNvSpPr txBox="1"/>
          <p:nvPr/>
        </p:nvSpPr>
        <p:spPr>
          <a:xfrm>
            <a:off x="3408218" y="775855"/>
            <a:ext cx="38515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accent4">
                    <a:lumMod val="75000"/>
                  </a:schemeClr>
                </a:solidFill>
              </a:rPr>
              <a:t>HTML - </a:t>
            </a:r>
            <a:r>
              <a:rPr lang="bg-BG" sz="4400" dirty="0" smtClean="0">
                <a:solidFill>
                  <a:schemeClr val="accent4">
                    <a:lumMod val="75000"/>
                  </a:schemeClr>
                </a:solidFill>
              </a:rPr>
              <a:t>преговор</a:t>
            </a:r>
            <a:endParaRPr lang="bg-BG" sz="4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Текстово поле 6"/>
          <p:cNvSpPr txBox="1"/>
          <p:nvPr/>
        </p:nvSpPr>
        <p:spPr>
          <a:xfrm>
            <a:off x="7924800" y="5721927"/>
            <a:ext cx="3435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accent4">
                    <a:lumMod val="75000"/>
                  </a:schemeClr>
                </a:solidFill>
              </a:rPr>
              <a:t>Н. Панайотова</a:t>
            </a:r>
            <a:endParaRPr lang="bg-BG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17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90" y="422136"/>
            <a:ext cx="9601200" cy="4895850"/>
          </a:xfrm>
          <a:prstGeom prst="rect">
            <a:avLst/>
          </a:prstGeom>
        </p:spPr>
      </p:pic>
      <p:sp>
        <p:nvSpPr>
          <p:cNvPr id="5" name="Текстово поле 4"/>
          <p:cNvSpPr txBox="1"/>
          <p:nvPr/>
        </p:nvSpPr>
        <p:spPr>
          <a:xfrm>
            <a:off x="1319180" y="5697287"/>
            <a:ext cx="984322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dirty="0" smtClean="0"/>
              <a:t>Създаваме нов документ във </a:t>
            </a:r>
            <a:r>
              <a:rPr lang="en-US" dirty="0" smtClean="0"/>
              <a:t>VS Code </a:t>
            </a:r>
            <a:r>
              <a:rPr lang="bg-BG" dirty="0" smtClean="0"/>
              <a:t>и създаваме папка </a:t>
            </a:r>
            <a:r>
              <a:rPr lang="en-US" dirty="0" smtClean="0"/>
              <a:t>images </a:t>
            </a:r>
            <a:r>
              <a:rPr lang="bg-BG" dirty="0" smtClean="0"/>
              <a:t>в същата директория, в която съхраняваме всички картинки на сайта</a:t>
            </a:r>
            <a:r>
              <a:rPr lang="en-US" dirty="0" smtClean="0"/>
              <a:t>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4140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2" y="139826"/>
            <a:ext cx="7086600" cy="649605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6" name="Текстово поле 5"/>
          <p:cNvSpPr txBox="1"/>
          <p:nvPr/>
        </p:nvSpPr>
        <p:spPr>
          <a:xfrm>
            <a:off x="7579469" y="17697"/>
            <a:ext cx="4253346" cy="674030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HTML = Hypertext Markup Language</a:t>
            </a: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/>
            </a:r>
            <a:br>
              <a:rPr lang="bg-BG" dirty="0" smtClean="0"/>
            </a:br>
            <a:r>
              <a:rPr lang="en-US" dirty="0" smtClean="0"/>
              <a:t>HTML </a:t>
            </a:r>
            <a:r>
              <a:rPr lang="bg-BG" dirty="0" smtClean="0"/>
              <a:t>е език писане на код, </a:t>
            </a:r>
            <a:br>
              <a:rPr lang="bg-BG" dirty="0" smtClean="0"/>
            </a:br>
            <a:r>
              <a:rPr lang="bg-BG" dirty="0" smtClean="0"/>
              <a:t>а не програмиране!</a:t>
            </a:r>
          </a:p>
          <a:p>
            <a:endParaRPr lang="bg-BG" dirty="0" smtClean="0"/>
          </a:p>
          <a:p>
            <a:r>
              <a:rPr lang="bg-BG" dirty="0" smtClean="0"/>
              <a:t>Неговата структура се изгражда чрез тагове, като имаме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bg-BG" dirty="0" smtClean="0"/>
              <a:t>отварящ таг</a:t>
            </a:r>
            <a:r>
              <a:rPr lang="bg-BG" dirty="0" smtClean="0">
                <a:solidFill>
                  <a:srgbClr val="FF0000"/>
                </a:solidFill>
              </a:rPr>
              <a:t>&gt;</a:t>
            </a:r>
            <a:br>
              <a:rPr lang="bg-BG" dirty="0" smtClean="0">
                <a:solidFill>
                  <a:srgbClr val="FF0000"/>
                </a:solidFill>
              </a:rPr>
            </a:br>
            <a:r>
              <a:rPr lang="bg-BG" dirty="0" smtClean="0"/>
              <a:t> …съдържание … </a:t>
            </a:r>
            <a:br>
              <a:rPr lang="bg-BG" dirty="0" smtClean="0"/>
            </a:br>
            <a:r>
              <a:rPr lang="bg-BG" dirty="0" smtClean="0">
                <a:solidFill>
                  <a:srgbClr val="FF0000"/>
                </a:solidFill>
              </a:rPr>
              <a:t>&lt;/</a:t>
            </a:r>
            <a:r>
              <a:rPr lang="bg-BG" dirty="0" smtClean="0"/>
              <a:t> затварящ таг</a:t>
            </a:r>
            <a:r>
              <a:rPr lang="bg-BG" dirty="0" smtClean="0">
                <a:solidFill>
                  <a:srgbClr val="FF0000"/>
                </a:solidFill>
              </a:rPr>
              <a:t>&gt;</a:t>
            </a:r>
          </a:p>
          <a:p>
            <a:endParaRPr lang="bg-BG" dirty="0">
              <a:solidFill>
                <a:srgbClr val="FF0000"/>
              </a:solidFill>
              <a:effectLst/>
            </a:endParaRPr>
          </a:p>
          <a:p>
            <a:r>
              <a:rPr lang="bg-BG" dirty="0" smtClean="0">
                <a:effectLst/>
              </a:rPr>
              <a:t>Самите тагове не са видими за потребителя, а само тяхното съдържание.</a:t>
            </a:r>
            <a:r>
              <a:rPr lang="en-US" dirty="0" smtClean="0">
                <a:effectLst/>
              </a:rPr>
              <a:t> </a:t>
            </a:r>
            <a:r>
              <a:rPr lang="bg-BG" dirty="0" smtClean="0">
                <a:effectLst/>
              </a:rPr>
              <a:t>По този начин се получава вграждане на елементите един в друг. Не забравяйте да затваряте таговете!</a:t>
            </a:r>
          </a:p>
          <a:p>
            <a:endParaRPr lang="bg-BG" dirty="0" smtClean="0">
              <a:effectLst/>
            </a:endParaRPr>
          </a:p>
          <a:p>
            <a:r>
              <a:rPr lang="bg-BG" dirty="0" smtClean="0"/>
              <a:t>Има тагове, които са само отварящи като </a:t>
            </a:r>
          </a:p>
          <a:p>
            <a:r>
              <a:rPr lang="bg-BG" dirty="0" smtClean="0"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solidFill>
                  <a:srgbClr val="FF0000"/>
                </a:solidFill>
              </a:rPr>
              <a:t>img</a:t>
            </a:r>
            <a:r>
              <a:rPr lang="en-US" dirty="0" smtClean="0">
                <a:solidFill>
                  <a:srgbClr val="FF0000"/>
                </a:solidFill>
              </a:rPr>
              <a:t>&gt; </a:t>
            </a:r>
            <a:r>
              <a:rPr lang="en-US" dirty="0" smtClean="0"/>
              <a:t>- image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solidFill>
                  <a:srgbClr val="FF0000"/>
                </a:solidFill>
              </a:rPr>
              <a:t>br</a:t>
            </a:r>
            <a:r>
              <a:rPr lang="en-US" dirty="0" smtClean="0">
                <a:solidFill>
                  <a:srgbClr val="FF0000"/>
                </a:solidFill>
              </a:rPr>
              <a:t>&gt; </a:t>
            </a:r>
            <a:r>
              <a:rPr lang="en-US" dirty="0" smtClean="0"/>
              <a:t>- break </a:t>
            </a:r>
            <a:r>
              <a:rPr lang="en-US" dirty="0" smtClean="0"/>
              <a:t>line</a:t>
            </a:r>
          </a:p>
          <a:p>
            <a:endParaRPr lang="en-US" dirty="0"/>
          </a:p>
          <a:p>
            <a:r>
              <a:rPr lang="en-US" dirty="0" smtClean="0"/>
              <a:t>! + Enter = snippet </a:t>
            </a:r>
            <a:r>
              <a:rPr lang="bg-BG" dirty="0" smtClean="0"/>
              <a:t>за скелет на </a:t>
            </a:r>
            <a:r>
              <a:rPr lang="en-US" dirty="0" smtClean="0"/>
              <a:t>HTML</a:t>
            </a:r>
            <a:endParaRPr lang="en-US" dirty="0" smtClean="0"/>
          </a:p>
          <a:p>
            <a:endParaRPr lang="en-US" dirty="0"/>
          </a:p>
          <a:p>
            <a:pPr algn="ctr"/>
            <a:r>
              <a:rPr lang="en-US" dirty="0" smtClean="0">
                <a:hlinkClick r:id="rId3"/>
              </a:rPr>
              <a:t>www.w3schools.com/html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153383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48" y="354177"/>
            <a:ext cx="5438775" cy="41814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5" name="Правоъгълник 4"/>
          <p:cNvSpPr/>
          <p:nvPr/>
        </p:nvSpPr>
        <p:spPr>
          <a:xfrm>
            <a:off x="6248400" y="212493"/>
            <a:ext cx="56110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err="1" smtClean="0"/>
              <a:t>Хиперлинк</a:t>
            </a:r>
            <a:endParaRPr lang="bg-BG" dirty="0" smtClean="0"/>
          </a:p>
          <a:p>
            <a:r>
              <a:rPr lang="bg-BG" dirty="0" smtClean="0"/>
              <a:t>(</a:t>
            </a:r>
            <a:r>
              <a:rPr lang="en-US" dirty="0" smtClean="0"/>
              <a:t>anchor hypertext reference)</a:t>
            </a:r>
            <a:endParaRPr lang="bg-BG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&lt;a </a:t>
            </a:r>
            <a:r>
              <a:rPr lang="en-US" dirty="0" err="1" smtClean="0">
                <a:solidFill>
                  <a:srgbClr val="FF0000"/>
                </a:solidFill>
              </a:rPr>
              <a:t>href</a:t>
            </a:r>
            <a:r>
              <a:rPr lang="en-US" dirty="0" smtClean="0">
                <a:solidFill>
                  <a:srgbClr val="FF0000"/>
                </a:solidFill>
              </a:rPr>
              <a:t>="</a:t>
            </a:r>
            <a:r>
              <a:rPr lang="en-US" dirty="0" smtClean="0"/>
              <a:t>https://www.w3schools.com</a:t>
            </a:r>
            <a:r>
              <a:rPr lang="en-US" dirty="0" smtClean="0">
                <a:solidFill>
                  <a:srgbClr val="FF0000"/>
                </a:solidFill>
              </a:rPr>
              <a:t>"&gt;</a:t>
            </a:r>
            <a:r>
              <a:rPr lang="bg-BG" dirty="0" smtClean="0"/>
              <a:t>Линк</a:t>
            </a:r>
            <a:r>
              <a:rPr lang="en-US" dirty="0" smtClean="0">
                <a:solidFill>
                  <a:srgbClr val="FF0000"/>
                </a:solidFill>
              </a:rPr>
              <a:t>&lt;/a&gt;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bg-BG" dirty="0" smtClean="0"/>
              <a:t>Имаме 2 вида адреси:</a:t>
            </a:r>
            <a:endParaRPr lang="bg-BG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b="1" dirty="0" smtClean="0"/>
              <a:t>Абсолютен</a:t>
            </a:r>
            <a:r>
              <a:rPr lang="bg-BG" dirty="0" smtClean="0"/>
              <a:t> (пълният път до файла), например: </a:t>
            </a:r>
          </a:p>
          <a:p>
            <a:r>
              <a:rPr lang="en-US" dirty="0" smtClean="0"/>
              <a:t>https://en.wikipedia.org/wiki/The_Kiss_(Klimt)#/media/File:The_Kiss_-_Gustav_Klimt_-_Google_Cultural_Institute.jpg</a:t>
            </a:r>
            <a:r>
              <a:rPr lang="bg-BG" dirty="0" smtClean="0"/>
              <a:t> </a:t>
            </a:r>
            <a:endParaRPr lang="en-US" dirty="0" smtClean="0"/>
          </a:p>
          <a:p>
            <a:r>
              <a:rPr lang="bg-BG" dirty="0" smtClean="0">
                <a:effectLst/>
              </a:rPr>
              <a:t>или във файловата система, но с промяна на наклонената черта при копиране на директорията:</a:t>
            </a: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dirty="0" smtClean="0">
                <a:effectLst/>
              </a:rPr>
              <a:t>D:</a:t>
            </a:r>
            <a:r>
              <a:rPr lang="bg-BG" dirty="0" smtClean="0">
                <a:effectLst/>
              </a:rPr>
              <a:t>/Учебници МГ/Николета Панайотова/9 клас/</a:t>
            </a:r>
            <a:r>
              <a:rPr lang="en-US" dirty="0" smtClean="0">
                <a:effectLst/>
              </a:rPr>
              <a:t>HTML-website</a:t>
            </a:r>
            <a:r>
              <a:rPr lang="bg-BG" dirty="0" smtClean="0">
                <a:effectLst/>
              </a:rPr>
              <a:t>/</a:t>
            </a:r>
            <a:r>
              <a:rPr lang="en-US" dirty="0" smtClean="0">
                <a:effectLst/>
              </a:rPr>
              <a:t>images</a:t>
            </a:r>
            <a:endParaRPr lang="bg-BG" dirty="0" smtClean="0">
              <a:solidFill>
                <a:srgbClr val="FF0000"/>
              </a:solidFill>
              <a:effectLst/>
            </a:endParaRPr>
          </a:p>
          <a:p>
            <a:endParaRPr lang="bg-BG" dirty="0" smtClean="0"/>
          </a:p>
          <a:p>
            <a:endParaRPr lang="bg-BG" dirty="0" smtClean="0">
              <a:effectLst/>
            </a:endParaRPr>
          </a:p>
          <a:p>
            <a:endParaRPr lang="en-US" dirty="0">
              <a:effectLst/>
            </a:endParaRPr>
          </a:p>
        </p:txBody>
      </p:sp>
      <p:pic>
        <p:nvPicPr>
          <p:cNvPr id="7" name="Картина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366" y="3922152"/>
            <a:ext cx="7477125" cy="6191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Текстово поле 8"/>
          <p:cNvSpPr txBox="1"/>
          <p:nvPr/>
        </p:nvSpPr>
        <p:spPr>
          <a:xfrm>
            <a:off x="7030531" y="4797024"/>
            <a:ext cx="4572001" cy="175432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bg-BG" dirty="0" smtClean="0"/>
              <a:t>За целите на уеб сайтовете обикновено се използва </a:t>
            </a:r>
            <a:r>
              <a:rPr lang="bg-BG" b="1" dirty="0" smtClean="0"/>
              <a:t>Относителен</a:t>
            </a:r>
            <a:r>
              <a:rPr lang="bg-BG" dirty="0" smtClean="0"/>
              <a:t> – в папката на проекта се подреждат по категории всички файлове, например папка </a:t>
            </a:r>
            <a:r>
              <a:rPr lang="en-US" dirty="0" smtClean="0"/>
              <a:t>images </a:t>
            </a:r>
            <a:r>
              <a:rPr lang="bg-BG" dirty="0" smtClean="0"/>
              <a:t>и се изписва само пътят до тях, а връщането в горна директория е с </a:t>
            </a:r>
            <a:r>
              <a:rPr lang="bg-BG" dirty="0" smtClean="0">
                <a:solidFill>
                  <a:srgbClr val="FF0000"/>
                </a:solidFill>
              </a:rPr>
              <a:t>../</a:t>
            </a:r>
            <a:endParaRPr lang="bg-BG" dirty="0">
              <a:solidFill>
                <a:srgbClr val="FF0000"/>
              </a:solidFill>
            </a:endParaRPr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30" y="4759370"/>
            <a:ext cx="5886450" cy="18192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5738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29" y="415204"/>
            <a:ext cx="3000375" cy="26193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720" y="208154"/>
            <a:ext cx="7134225" cy="31908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55" y="3467120"/>
            <a:ext cx="4276725" cy="31337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7" name="Правоъгълник 6"/>
          <p:cNvSpPr/>
          <p:nvPr/>
        </p:nvSpPr>
        <p:spPr>
          <a:xfrm>
            <a:off x="4660323" y="3478402"/>
            <a:ext cx="7060622" cy="313932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bg-BG" dirty="0" smtClean="0"/>
              <a:t>Чрез атрибутите </a:t>
            </a:r>
            <a:r>
              <a:rPr lang="en-US" dirty="0" smtClean="0"/>
              <a:t>width </a:t>
            </a:r>
            <a:r>
              <a:rPr lang="bg-BG" dirty="0" smtClean="0"/>
              <a:t>и </a:t>
            </a:r>
            <a:r>
              <a:rPr lang="en-US" dirty="0" err="1" smtClean="0"/>
              <a:t>heigh</a:t>
            </a:r>
            <a:r>
              <a:rPr lang="en-US" dirty="0" smtClean="0"/>
              <a:t> </a:t>
            </a:r>
            <a:r>
              <a:rPr lang="bg-BG" dirty="0" smtClean="0"/>
              <a:t>можем да променим размерите на картинките, чрез </a:t>
            </a:r>
            <a:r>
              <a:rPr lang="en-US" dirty="0" smtClean="0"/>
              <a:t>alt </a:t>
            </a:r>
            <a:r>
              <a:rPr lang="bg-BG" dirty="0" smtClean="0"/>
              <a:t>поставяме алтернативен текст, ако картинката не се покаже. Старият таг </a:t>
            </a:r>
            <a:r>
              <a:rPr lang="en-US" dirty="0" smtClean="0"/>
              <a:t>&lt;center&gt; </a:t>
            </a:r>
            <a:r>
              <a:rPr lang="bg-BG" dirty="0" smtClean="0"/>
              <a:t>центрира.</a:t>
            </a:r>
            <a:endParaRPr lang="en-US" dirty="0" smtClean="0"/>
          </a:p>
          <a:p>
            <a:endParaRPr lang="bg-BG" dirty="0" smtClean="0"/>
          </a:p>
          <a:p>
            <a:r>
              <a:rPr lang="bg-BG" dirty="0" smtClean="0"/>
              <a:t>За фон</a:t>
            </a:r>
            <a:r>
              <a:rPr lang="en-US" dirty="0" smtClean="0"/>
              <a:t>, </a:t>
            </a:r>
            <a:r>
              <a:rPr lang="bg-BG" dirty="0" smtClean="0"/>
              <a:t>вграденият помощник с автоматично дописване </a:t>
            </a:r>
            <a:r>
              <a:rPr lang="en-US" dirty="0" smtClean="0"/>
              <a:t>IntelliSense</a:t>
            </a:r>
            <a:r>
              <a:rPr lang="bg-BG" dirty="0" smtClean="0"/>
              <a:t> (</a:t>
            </a:r>
            <a:r>
              <a:rPr lang="en-US" dirty="0" smtClean="0"/>
              <a:t>Intelligent Sense – </a:t>
            </a:r>
            <a:r>
              <a:rPr lang="bg-BG" dirty="0" smtClean="0"/>
              <a:t>интелигентно изречение) разпознава 2 начина – чрез атрибут </a:t>
            </a:r>
            <a:r>
              <a:rPr lang="en-US" dirty="0" err="1" smtClean="0"/>
              <a:t>bg</a:t>
            </a:r>
            <a:r>
              <a:rPr lang="en-US" dirty="0" smtClean="0"/>
              <a:t> color (background color)</a:t>
            </a:r>
            <a:r>
              <a:rPr lang="bg-BG" dirty="0" smtClean="0"/>
              <a:t>, който обаче остарява и отпада в </a:t>
            </a:r>
            <a:r>
              <a:rPr lang="en-US" dirty="0" smtClean="0"/>
              <a:t>HTML 5</a:t>
            </a:r>
            <a:r>
              <a:rPr lang="bg-BG" dirty="0" smtClean="0"/>
              <a:t>, а се наблюдават и фрапиращи разминавания в цветовите нюанси спрямо новия метод със стилове.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bg-BG" dirty="0" smtClean="0"/>
              <a:t>Пример с еднакви стойности на зелено</a:t>
            </a:r>
            <a:r>
              <a:rPr lang="en-US" dirty="0" smtClean="0"/>
              <a:t> RGB(187,253, 214)</a:t>
            </a:r>
            <a:r>
              <a:rPr lang="bg-BG" dirty="0" smtClean="0"/>
              <a:t>: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1391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332" y="262674"/>
            <a:ext cx="2657475" cy="238125"/>
          </a:xfrm>
          <a:prstGeom prst="rect">
            <a:avLst/>
          </a:prstGeom>
        </p:spPr>
      </p:pic>
      <p:pic>
        <p:nvPicPr>
          <p:cNvPr id="6" name="Картина 5"/>
          <p:cNvPicPr>
            <a:picLocks noChangeAspect="1"/>
          </p:cNvPicPr>
          <p:nvPr/>
        </p:nvPicPr>
        <p:blipFill rotWithShape="1">
          <a:blip r:embed="rId3"/>
          <a:srcRect l="-4044" r="59953"/>
          <a:stretch/>
        </p:blipFill>
        <p:spPr>
          <a:xfrm>
            <a:off x="9074332" y="711764"/>
            <a:ext cx="2549237" cy="1362075"/>
          </a:xfrm>
          <a:prstGeom prst="rect">
            <a:avLst/>
          </a:prstGeom>
        </p:spPr>
      </p:pic>
      <p:sp>
        <p:nvSpPr>
          <p:cNvPr id="3" name="Правоъгълник 2"/>
          <p:cNvSpPr/>
          <p:nvPr/>
        </p:nvSpPr>
        <p:spPr>
          <a:xfrm>
            <a:off x="456011" y="407092"/>
            <a:ext cx="8253327" cy="61863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RGB(187,253, 214</a:t>
            </a:r>
            <a:r>
              <a:rPr lang="en-US" dirty="0" smtClean="0"/>
              <a:t>)</a:t>
            </a:r>
            <a:r>
              <a:rPr lang="bg-BG" dirty="0" smtClean="0"/>
              <a:t> и сериозните цветови разминавания, които виждаме между остарелия </a:t>
            </a:r>
            <a:r>
              <a:rPr lang="en-US" dirty="0" smtClean="0"/>
              <a:t>&lt;body </a:t>
            </a:r>
            <a:r>
              <a:rPr lang="en-US" dirty="0" err="1" smtClean="0"/>
              <a:t>bgcolor</a:t>
            </a:r>
            <a:r>
              <a:rPr lang="en-US" dirty="0" smtClean="0"/>
              <a:t> =“</a:t>
            </a:r>
            <a:r>
              <a:rPr lang="en-US" dirty="0" err="1" smtClean="0"/>
              <a:t>rgb</a:t>
            </a:r>
            <a:r>
              <a:rPr lang="en-US" dirty="0" smtClean="0"/>
              <a:t>(187, 253, 214”&gt; </a:t>
            </a:r>
          </a:p>
          <a:p>
            <a:endParaRPr lang="en-US" dirty="0"/>
          </a:p>
          <a:p>
            <a:r>
              <a:rPr lang="bg-BG" dirty="0" smtClean="0"/>
              <a:t>и новия </a:t>
            </a:r>
            <a:r>
              <a:rPr lang="bg-BG" b="1" dirty="0" smtClean="0"/>
              <a:t>&lt;</a:t>
            </a:r>
            <a:r>
              <a:rPr lang="en-US" b="1" dirty="0" smtClean="0"/>
              <a:t>body style=“background-color: </a:t>
            </a:r>
            <a:r>
              <a:rPr lang="en-US" dirty="0" err="1" smtClean="0"/>
              <a:t>rgb</a:t>
            </a:r>
            <a:r>
              <a:rPr lang="en-US" dirty="0" smtClean="0"/>
              <a:t> (187, 253, 214)”&gt;</a:t>
            </a:r>
            <a:r>
              <a:rPr lang="bg-BG" dirty="0" smtClean="0"/>
              <a:t>  </a:t>
            </a:r>
            <a:endParaRPr lang="en-US" dirty="0" smtClean="0"/>
          </a:p>
          <a:p>
            <a:endParaRPr lang="en-US" dirty="0"/>
          </a:p>
          <a:p>
            <a:r>
              <a:rPr lang="bg-BG" dirty="0" smtClean="0"/>
              <a:t>Това е нагледен пример за остаряването и отпадането на една технология и замяната й с друга. </a:t>
            </a:r>
            <a:endParaRPr lang="en-US" dirty="0" smtClean="0"/>
          </a:p>
          <a:p>
            <a:endParaRPr lang="en-US" dirty="0"/>
          </a:p>
          <a:p>
            <a:r>
              <a:rPr lang="bg-BG" dirty="0" smtClean="0"/>
              <a:t>В уеб изработката имаме 3 основни групи разработчици: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Back-end: </a:t>
            </a:r>
            <a:r>
              <a:rPr lang="bg-BG" dirty="0" smtClean="0"/>
              <a:t>пишат кода</a:t>
            </a:r>
            <a:r>
              <a:rPr lang="en-US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Front-end: </a:t>
            </a:r>
            <a:r>
              <a:rPr lang="bg-BG" dirty="0" smtClean="0"/>
              <a:t>оформят дизайна</a:t>
            </a:r>
            <a:r>
              <a:rPr lang="en-US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Full-stack: </a:t>
            </a:r>
            <a:r>
              <a:rPr lang="bg-BG" dirty="0" smtClean="0"/>
              <a:t>прави всичко сам.</a:t>
            </a:r>
          </a:p>
          <a:p>
            <a:endParaRPr lang="bg-BG" dirty="0"/>
          </a:p>
          <a:p>
            <a:r>
              <a:rPr lang="bg-BG" dirty="0" smtClean="0"/>
              <a:t>Подобни разминавания, както и размествания </a:t>
            </a:r>
            <a:br>
              <a:rPr lang="bg-BG" dirty="0" smtClean="0"/>
            </a:br>
            <a:r>
              <a:rPr lang="bg-BG" dirty="0" smtClean="0"/>
              <a:t>между текст, картинки и функционалности са </a:t>
            </a:r>
            <a:br>
              <a:rPr lang="bg-BG" dirty="0" smtClean="0"/>
            </a:br>
            <a:r>
              <a:rPr lang="bg-BG" dirty="0" smtClean="0"/>
              <a:t>чест проблем във </a:t>
            </a:r>
            <a:r>
              <a:rPr lang="en-US" dirty="0" smtClean="0"/>
              <a:t>Front</a:t>
            </a:r>
            <a:r>
              <a:rPr lang="bg-BG" dirty="0" smtClean="0"/>
              <a:t>-</a:t>
            </a:r>
            <a:r>
              <a:rPr lang="en-US" dirty="0" smtClean="0"/>
              <a:t>end </a:t>
            </a:r>
            <a:r>
              <a:rPr lang="bg-BG" dirty="0" smtClean="0"/>
              <a:t>визуализацията,</a:t>
            </a:r>
          </a:p>
          <a:p>
            <a:r>
              <a:rPr lang="bg-BG" dirty="0" smtClean="0"/>
              <a:t>затова се правят множество тестове в различни</a:t>
            </a:r>
            <a:br>
              <a:rPr lang="bg-BG" dirty="0" smtClean="0"/>
            </a:br>
            <a:r>
              <a:rPr lang="bg-BG" dirty="0" smtClean="0"/>
              <a:t>браузъри и операционни системи ОС </a:t>
            </a:r>
            <a:br>
              <a:rPr lang="bg-BG" dirty="0" smtClean="0"/>
            </a:br>
            <a:r>
              <a:rPr lang="bg-BG" dirty="0" smtClean="0"/>
              <a:t>(на компютри, таблети и мобилни телефони) и</a:t>
            </a:r>
            <a:br>
              <a:rPr lang="bg-BG" dirty="0" smtClean="0"/>
            </a:br>
            <a:r>
              <a:rPr lang="bg-BG" dirty="0" smtClean="0"/>
              <a:t>се избира оптимален вариант.</a:t>
            </a:r>
          </a:p>
          <a:p>
            <a:endParaRPr lang="bg-BG" dirty="0"/>
          </a:p>
          <a:p>
            <a:r>
              <a:rPr lang="bg-BG" dirty="0" smtClean="0"/>
              <a:t>В практиката, много често се чупят </a:t>
            </a:r>
            <a:r>
              <a:rPr lang="en-US" dirty="0" err="1" smtClean="0"/>
              <a:t>navbar</a:t>
            </a:r>
            <a:r>
              <a:rPr lang="en-US" dirty="0" smtClean="0"/>
              <a:t> toggle button </a:t>
            </a:r>
            <a:r>
              <a:rPr lang="bg-BG" dirty="0" smtClean="0"/>
              <a:t>за разлистване/свиване</a:t>
            </a:r>
            <a:r>
              <a:rPr lang="en-US" dirty="0" smtClean="0"/>
              <a:t>.</a:t>
            </a:r>
            <a:endParaRPr lang="bg-BG" dirty="0"/>
          </a:p>
        </p:txBody>
      </p:sp>
      <p:pic>
        <p:nvPicPr>
          <p:cNvPr id="7" name="Картина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538" y="5620673"/>
            <a:ext cx="485775" cy="3714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Картина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364" y="5174176"/>
            <a:ext cx="2276475" cy="1419225"/>
          </a:xfrm>
          <a:prstGeom prst="rect">
            <a:avLst/>
          </a:prstGeom>
        </p:spPr>
      </p:pic>
      <p:pic>
        <p:nvPicPr>
          <p:cNvPr id="2" name="Картина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820" y="2285745"/>
            <a:ext cx="5743575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6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/>
          <p:cNvSpPr txBox="1"/>
          <p:nvPr/>
        </p:nvSpPr>
        <p:spPr>
          <a:xfrm>
            <a:off x="418146" y="436729"/>
            <a:ext cx="51042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Към сайта могат да се добавят</a:t>
            </a:r>
            <a:r>
              <a:rPr lang="en-US" dirty="0" smtClean="0"/>
              <a:t>:</a:t>
            </a:r>
            <a:r>
              <a:rPr lang="bg-BG" dirty="0" smtClean="0"/>
              <a:t> </a:t>
            </a:r>
            <a:endParaRPr lang="en-US" dirty="0" smtClean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иконка върху </a:t>
            </a:r>
            <a:r>
              <a:rPr lang="bg-BG" dirty="0" err="1" smtClean="0"/>
              <a:t>подпрозореца</a:t>
            </a:r>
            <a:r>
              <a:rPr lang="bg-BG" dirty="0" smtClean="0"/>
              <a:t> – </a:t>
            </a:r>
            <a:r>
              <a:rPr lang="en-US" dirty="0" smtClean="0"/>
              <a:t>favicon.ico</a:t>
            </a:r>
            <a:endParaRPr lang="bg-BG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Таблица – </a:t>
            </a:r>
            <a:r>
              <a:rPr lang="en-US" dirty="0" smtClean="0"/>
              <a:t>&lt;table&gt;&lt;/table&gt;</a:t>
            </a:r>
          </a:p>
          <a:p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bg-BG" dirty="0" smtClean="0"/>
              <a:t>със заглавни клетки </a:t>
            </a:r>
            <a:r>
              <a:rPr lang="en-US" dirty="0" smtClean="0"/>
              <a:t>&lt;</a:t>
            </a:r>
            <a:r>
              <a:rPr lang="en-US" dirty="0" err="1" smtClean="0"/>
              <a:t>th</a:t>
            </a:r>
            <a:r>
              <a:rPr lang="en-US" dirty="0" smtClean="0"/>
              <a:t>&gt;&lt;</a:t>
            </a:r>
            <a:r>
              <a:rPr lang="en-US" dirty="0" err="1" smtClean="0"/>
              <a:t>th</a:t>
            </a:r>
            <a:r>
              <a:rPr lang="en-US" dirty="0" smtClean="0"/>
              <a:t>&gt; = table head</a:t>
            </a:r>
          </a:p>
          <a:p>
            <a:r>
              <a:rPr lang="bg-BG" dirty="0"/>
              <a:t> </a:t>
            </a:r>
            <a:r>
              <a:rPr lang="bg-BG" dirty="0" smtClean="0"/>
              <a:t>     редове </a:t>
            </a:r>
            <a:r>
              <a:rPr lang="en-US" dirty="0" smtClean="0"/>
              <a:t>&lt;</a:t>
            </a:r>
            <a:r>
              <a:rPr lang="en-US" dirty="0" err="1" smtClean="0"/>
              <a:t>tr</a:t>
            </a:r>
            <a:r>
              <a:rPr lang="en-US" dirty="0" smtClean="0"/>
              <a:t>&gt;&lt;/</a:t>
            </a:r>
            <a:r>
              <a:rPr lang="en-US" dirty="0" err="1" smtClean="0"/>
              <a:t>tr</a:t>
            </a:r>
            <a:r>
              <a:rPr lang="en-US" dirty="0" smtClean="0"/>
              <a:t>&gt; = table row</a:t>
            </a:r>
          </a:p>
          <a:p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bg-BG" dirty="0" smtClean="0"/>
              <a:t>клетки &lt;</a:t>
            </a:r>
            <a:r>
              <a:rPr lang="en-US" dirty="0" smtClean="0"/>
              <a:t>td&gt;&lt;/td&gt; = table data</a:t>
            </a:r>
            <a:endParaRPr lang="bg-BG" dirty="0" smtClean="0"/>
          </a:p>
          <a:p>
            <a:endParaRPr lang="bg-BG" dirty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 dirty="0"/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408" y="143669"/>
            <a:ext cx="3302422" cy="2676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Текстово поле 5"/>
          <p:cNvSpPr txBox="1"/>
          <p:nvPr/>
        </p:nvSpPr>
        <p:spPr>
          <a:xfrm>
            <a:off x="9266830" y="818866"/>
            <a:ext cx="1774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/>
              </a:rPr>
              <a:t>www.favicon.cc</a:t>
            </a:r>
            <a:endParaRPr lang="bg-BG" dirty="0"/>
          </a:p>
        </p:txBody>
      </p:sp>
      <p:sp>
        <p:nvSpPr>
          <p:cNvPr id="7" name="Текстово поле 6"/>
          <p:cNvSpPr txBox="1"/>
          <p:nvPr/>
        </p:nvSpPr>
        <p:spPr>
          <a:xfrm>
            <a:off x="9266830" y="1897039"/>
            <a:ext cx="2426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По-напредналите могат да обединяват клетки чрез </a:t>
            </a:r>
            <a:r>
              <a:rPr lang="en-US" dirty="0" err="1" smtClean="0"/>
              <a:t>rowspan</a:t>
            </a:r>
            <a:endParaRPr lang="bg-BG" dirty="0"/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 rotWithShape="1">
          <a:blip r:embed="rId4"/>
          <a:srcRect l="1659" r="1228"/>
          <a:stretch/>
        </p:blipFill>
        <p:spPr>
          <a:xfrm>
            <a:off x="197458" y="2936844"/>
            <a:ext cx="5815381" cy="36811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Картина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527" y="3229582"/>
            <a:ext cx="5819775" cy="30956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1288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 поле 5"/>
          <p:cNvSpPr txBox="1"/>
          <p:nvPr/>
        </p:nvSpPr>
        <p:spPr>
          <a:xfrm>
            <a:off x="7701887" y="4258101"/>
            <a:ext cx="3998794" cy="175432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bg-BG" dirty="0" smtClean="0"/>
              <a:t>Можем да променим само заглавния ред на таблицата с </a:t>
            </a:r>
            <a:r>
              <a:rPr lang="en-US" dirty="0" err="1" smtClean="0"/>
              <a:t>bgcolor</a:t>
            </a:r>
            <a:r>
              <a:rPr lang="en-US" dirty="0" smtClean="0"/>
              <a:t>, </a:t>
            </a:r>
            <a:r>
              <a:rPr lang="bg-BG" dirty="0" smtClean="0"/>
              <a:t>като имаме предвид, че цветовата комбинация се изписва с </a:t>
            </a:r>
            <a:r>
              <a:rPr lang="en-US" dirty="0" smtClean="0"/>
              <a:t>#</a:t>
            </a:r>
            <a:r>
              <a:rPr lang="bg-BG" dirty="0" smtClean="0"/>
              <a:t> пред кода й, който е с 6 символа – по 2 за всеки от цветовете червено, зелено и синьо.</a:t>
            </a:r>
            <a:endParaRPr lang="bg-BG" dirty="0"/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81" y="326002"/>
            <a:ext cx="7229475" cy="5686425"/>
          </a:xfrm>
          <a:prstGeom prst="rect">
            <a:avLst/>
          </a:prstGeom>
        </p:spPr>
      </p:pic>
      <p:pic>
        <p:nvPicPr>
          <p:cNvPr id="2" name="Картина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919" y="1566930"/>
            <a:ext cx="5904762" cy="224761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1330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575"/>
            <a:ext cx="12192000" cy="691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8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65" y="500494"/>
            <a:ext cx="6703790" cy="40442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Текстово поле 2"/>
          <p:cNvSpPr txBox="1"/>
          <p:nvPr/>
        </p:nvSpPr>
        <p:spPr>
          <a:xfrm>
            <a:off x="7710983" y="500494"/>
            <a:ext cx="395785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Видовете списъци –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Lists</a:t>
            </a:r>
          </a:p>
          <a:p>
            <a:endParaRPr lang="en-US" dirty="0"/>
          </a:p>
          <a:p>
            <a:r>
              <a:rPr lang="bg-BG" dirty="0" smtClean="0"/>
              <a:t>Имаме 2 основни вида: </a:t>
            </a:r>
            <a:endParaRPr lang="en-US" dirty="0" smtClean="0"/>
          </a:p>
          <a:p>
            <a:endParaRPr lang="en-US" dirty="0" smtClean="0"/>
          </a:p>
          <a:p>
            <a:r>
              <a:rPr lang="bg-BG" dirty="0" smtClean="0"/>
              <a:t>неномерирани </a:t>
            </a:r>
            <a:r>
              <a:rPr lang="en-US" dirty="0" err="1" smtClean="0"/>
              <a:t>UnOrdered</a:t>
            </a:r>
            <a:r>
              <a:rPr lang="en-US" dirty="0" smtClean="0"/>
              <a:t> List = &lt;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endParaRPr lang="en-US" dirty="0" smtClean="0"/>
          </a:p>
          <a:p>
            <a:r>
              <a:rPr lang="bg-BG" dirty="0" smtClean="0"/>
              <a:t>и номерирани </a:t>
            </a:r>
            <a:r>
              <a:rPr lang="en-US" dirty="0" smtClean="0"/>
              <a:t>Ordered List = &lt;</a:t>
            </a:r>
            <a:r>
              <a:rPr lang="en-US" dirty="0" err="1" smtClean="0"/>
              <a:t>ol</a:t>
            </a:r>
            <a:r>
              <a:rPr lang="en-US" dirty="0" smtClean="0"/>
              <a:t>&gt;</a:t>
            </a:r>
          </a:p>
          <a:p>
            <a:endParaRPr lang="en-US" dirty="0"/>
          </a:p>
          <a:p>
            <a:r>
              <a:rPr lang="bg-BG" dirty="0" smtClean="0"/>
              <a:t>Всеки елемент в тях се изписва като </a:t>
            </a:r>
            <a:r>
              <a:rPr lang="en-US" dirty="0" smtClean="0"/>
              <a:t>List Item = &lt;li&gt;</a:t>
            </a:r>
            <a:endParaRPr lang="bg-BG" dirty="0"/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65" y="5007500"/>
            <a:ext cx="5323809" cy="25714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249" y="4882571"/>
            <a:ext cx="1082516" cy="507001"/>
          </a:xfrm>
          <a:prstGeom prst="rect">
            <a:avLst/>
          </a:prstGeom>
        </p:spPr>
      </p:pic>
      <p:pic>
        <p:nvPicPr>
          <p:cNvPr id="8" name="Картина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765" y="3678036"/>
            <a:ext cx="4314286" cy="866667"/>
          </a:xfrm>
          <a:prstGeom prst="rect">
            <a:avLst/>
          </a:prstGeom>
        </p:spPr>
      </p:pic>
      <p:sp>
        <p:nvSpPr>
          <p:cNvPr id="9" name="Текстово поле 8"/>
          <p:cNvSpPr txBox="1"/>
          <p:nvPr/>
        </p:nvSpPr>
        <p:spPr>
          <a:xfrm>
            <a:off x="1394046" y="5727440"/>
            <a:ext cx="9438385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dirty="0" smtClean="0">
                <a:solidFill>
                  <a:schemeClr val="accent1">
                    <a:lumMod val="75000"/>
                  </a:schemeClr>
                </a:solidFill>
              </a:rPr>
              <a:t>Задача: </a:t>
            </a:r>
            <a:r>
              <a:rPr lang="bg-BG" dirty="0" smtClean="0"/>
              <a:t>Направете уеб страница на произволна тема, която да има заглавие, фон, 1 картинка, 1 хипервръзка, 1 списък с 3 елемента и 1 бутон. </a:t>
            </a:r>
            <a:endParaRPr lang="bg-BG" dirty="0"/>
          </a:p>
        </p:txBody>
      </p:sp>
      <p:sp>
        <p:nvSpPr>
          <p:cNvPr id="10" name="Текстово поле 9"/>
          <p:cNvSpPr txBox="1"/>
          <p:nvPr/>
        </p:nvSpPr>
        <p:spPr>
          <a:xfrm>
            <a:off x="7337431" y="4742244"/>
            <a:ext cx="4704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 smtClean="0"/>
              <a:t>При натискане на бутона виждаме </a:t>
            </a:r>
            <a:br>
              <a:rPr lang="bg-BG" dirty="0" smtClean="0"/>
            </a:br>
            <a:r>
              <a:rPr lang="bg-BG" dirty="0" smtClean="0"/>
              <a:t>изскачащ прозорец.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395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  <p:sp>
        <p:nvSpPr>
          <p:cNvPr id="6" name="Текстово поле 5"/>
          <p:cNvSpPr txBox="1"/>
          <p:nvPr/>
        </p:nvSpPr>
        <p:spPr>
          <a:xfrm>
            <a:off x="2930546" y="1294470"/>
            <a:ext cx="38515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400" dirty="0" smtClean="0">
                <a:solidFill>
                  <a:schemeClr val="accent4">
                    <a:lumMod val="75000"/>
                  </a:schemeClr>
                </a:solidFill>
              </a:rPr>
              <a:t>БЛАГОДАРЯ!</a:t>
            </a:r>
            <a:endParaRPr lang="bg-BG" sz="4400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bg-BG" sz="4400" dirty="0" smtClean="0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</a:t>
            </a:r>
            <a:endParaRPr lang="bg-BG" sz="44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93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493</Words>
  <Application>Microsoft Office PowerPoint</Application>
  <PresentationFormat>Широк екран</PresentationFormat>
  <Paragraphs>71</Paragraphs>
  <Slides>11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тема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Николета</dc:creator>
  <cp:lastModifiedBy>Николета</cp:lastModifiedBy>
  <cp:revision>66</cp:revision>
  <dcterms:created xsi:type="dcterms:W3CDTF">2024-09-29T17:14:31Z</dcterms:created>
  <dcterms:modified xsi:type="dcterms:W3CDTF">2024-10-20T06:51:59Z</dcterms:modified>
</cp:coreProperties>
</file>